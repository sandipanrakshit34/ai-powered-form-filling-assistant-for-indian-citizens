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nva Sans Bold" panose="020B0604020202020204" charset="0"/>
      <p:regular r:id="rId18"/>
    </p:embeddedFont>
    <p:embeddedFont>
      <p:font typeface="Cheddar" panose="020B0604020202020204" charset="0"/>
      <p:regular r:id="rId19"/>
    </p:embeddedFont>
    <p:embeddedFont>
      <p:font typeface="Telegraf" panose="020B0604020202020204" charset="0"/>
      <p:regular r:id="rId20"/>
    </p:embeddedFont>
    <p:embeddedFont>
      <p:font typeface="Telegraf Bold" panose="020B0604020202020204" charset="0"/>
      <p:regular r:id="rId21"/>
    </p:embeddedFont>
    <p:embeddedFont>
      <p:font typeface="Telegraf Medium"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7.xml"/><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 Id="rId14"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eg"/><Relationship Id="rId1" Type="http://schemas.openxmlformats.org/officeDocument/2006/relationships/slideLayout" Target="../slideLayouts/slideLayout7.xml"/><Relationship Id="rId4" Type="http://schemas.openxmlformats.org/officeDocument/2006/relationships/image" Target="../media/image44.svg"/></Relationships>
</file>

<file path=ppt/slides/_rels/slide13.xml.rels><?xml version="1.0" encoding="UTF-8" standalone="yes"?>
<Relationships xmlns="http://schemas.openxmlformats.org/package/2006/relationships"><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2497374" y="5674223"/>
            <a:ext cx="2699245" cy="3496392"/>
          </a:xfrm>
          <a:custGeom>
            <a:avLst/>
            <a:gdLst/>
            <a:ahLst/>
            <a:cxnLst/>
            <a:rect l="l" t="t" r="r" b="b"/>
            <a:pathLst>
              <a:path w="2699245" h="3496392">
                <a:moveTo>
                  <a:pt x="0" y="0"/>
                </a:moveTo>
                <a:lnTo>
                  <a:pt x="2699244" y="0"/>
                </a:lnTo>
                <a:lnTo>
                  <a:pt x="2699244" y="3496393"/>
                </a:lnTo>
                <a:lnTo>
                  <a:pt x="0" y="349639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464522" y="7974482"/>
            <a:ext cx="3619348" cy="1897780"/>
          </a:xfrm>
          <a:custGeom>
            <a:avLst/>
            <a:gdLst/>
            <a:ahLst/>
            <a:cxnLst/>
            <a:rect l="l" t="t" r="r" b="b"/>
            <a:pathLst>
              <a:path w="3619348" h="1897780">
                <a:moveTo>
                  <a:pt x="0" y="0"/>
                </a:moveTo>
                <a:lnTo>
                  <a:pt x="3619348" y="0"/>
                </a:lnTo>
                <a:lnTo>
                  <a:pt x="3619348" y="1897780"/>
                </a:lnTo>
                <a:lnTo>
                  <a:pt x="0" y="189778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98708" y="324852"/>
            <a:ext cx="1800225" cy="1800225"/>
          </a:xfrm>
          <a:custGeom>
            <a:avLst/>
            <a:gdLst/>
            <a:ahLst/>
            <a:cxnLst/>
            <a:rect l="l" t="t" r="r" b="b"/>
            <a:pathLst>
              <a:path w="1800225" h="1800225">
                <a:moveTo>
                  <a:pt x="0" y="0"/>
                </a:moveTo>
                <a:lnTo>
                  <a:pt x="1800225" y="0"/>
                </a:lnTo>
                <a:lnTo>
                  <a:pt x="1800225" y="1800225"/>
                </a:lnTo>
                <a:lnTo>
                  <a:pt x="0" y="1800225"/>
                </a:lnTo>
                <a:lnTo>
                  <a:pt x="0" y="0"/>
                </a:lnTo>
                <a:close/>
              </a:path>
            </a:pathLst>
          </a:custGeom>
          <a:blipFill>
            <a:blip r:embed="rId6"/>
            <a:stretch>
              <a:fillRect/>
            </a:stretch>
          </a:blipFill>
        </p:spPr>
      </p:sp>
      <p:grpSp>
        <p:nvGrpSpPr>
          <p:cNvPr id="5" name="Group 5"/>
          <p:cNvGrpSpPr>
            <a:grpSpLocks noChangeAspect="1"/>
          </p:cNvGrpSpPr>
          <p:nvPr/>
        </p:nvGrpSpPr>
        <p:grpSpPr>
          <a:xfrm>
            <a:off x="14526139" y="8031899"/>
            <a:ext cx="3496199" cy="1783061"/>
            <a:chOff x="0" y="0"/>
            <a:chExt cx="3496196" cy="1783067"/>
          </a:xfrm>
        </p:grpSpPr>
        <p:sp>
          <p:nvSpPr>
            <p:cNvPr id="6" name="Freeform 6"/>
            <p:cNvSpPr/>
            <p:nvPr/>
          </p:nvSpPr>
          <p:spPr>
            <a:xfrm>
              <a:off x="0" y="0"/>
              <a:ext cx="3496183" cy="1783080"/>
            </a:xfrm>
            <a:custGeom>
              <a:avLst/>
              <a:gdLst/>
              <a:ahLst/>
              <a:cxnLst/>
              <a:rect l="l" t="t" r="r" b="b"/>
              <a:pathLst>
                <a:path w="3496183" h="1783080">
                  <a:moveTo>
                    <a:pt x="0" y="1783080"/>
                  </a:moveTo>
                  <a:lnTo>
                    <a:pt x="3496183" y="1783080"/>
                  </a:lnTo>
                  <a:lnTo>
                    <a:pt x="3496183" y="0"/>
                  </a:lnTo>
                  <a:lnTo>
                    <a:pt x="0" y="0"/>
                  </a:lnTo>
                  <a:close/>
                </a:path>
              </a:pathLst>
            </a:custGeom>
            <a:solidFill>
              <a:srgbClr val="000000">
                <a:alpha val="0"/>
              </a:srgbClr>
            </a:solidFill>
          </p:spPr>
        </p:sp>
      </p:grpSp>
      <p:sp>
        <p:nvSpPr>
          <p:cNvPr id="7" name="Freeform 7"/>
          <p:cNvSpPr/>
          <p:nvPr/>
        </p:nvSpPr>
        <p:spPr>
          <a:xfrm>
            <a:off x="1094813" y="2919174"/>
            <a:ext cx="5282317" cy="1302038"/>
          </a:xfrm>
          <a:custGeom>
            <a:avLst/>
            <a:gdLst/>
            <a:ahLst/>
            <a:cxnLst/>
            <a:rect l="l" t="t" r="r" b="b"/>
            <a:pathLst>
              <a:path w="5282317" h="1302038">
                <a:moveTo>
                  <a:pt x="0" y="0"/>
                </a:moveTo>
                <a:lnTo>
                  <a:pt x="5282317" y="0"/>
                </a:lnTo>
                <a:lnTo>
                  <a:pt x="5282317" y="1302038"/>
                </a:lnTo>
                <a:lnTo>
                  <a:pt x="0" y="1302038"/>
                </a:lnTo>
                <a:lnTo>
                  <a:pt x="0" y="0"/>
                </a:lnTo>
                <a:close/>
              </a:path>
            </a:pathLst>
          </a:custGeom>
          <a:blipFill>
            <a:blip r:embed="rId7"/>
            <a:stretch>
              <a:fillRect/>
            </a:stretch>
          </a:blipFill>
        </p:spPr>
      </p:sp>
      <p:sp>
        <p:nvSpPr>
          <p:cNvPr id="8" name="TextBox 8"/>
          <p:cNvSpPr txBox="1"/>
          <p:nvPr/>
        </p:nvSpPr>
        <p:spPr>
          <a:xfrm>
            <a:off x="9314462" y="6399247"/>
            <a:ext cx="2992041" cy="857374"/>
          </a:xfrm>
          <a:prstGeom prst="rect">
            <a:avLst/>
          </a:prstGeom>
        </p:spPr>
        <p:txBody>
          <a:bodyPr lIns="0" tIns="0" rIns="0" bIns="0" rtlCol="0" anchor="t">
            <a:spAutoFit/>
          </a:bodyPr>
          <a:lstStyle/>
          <a:p>
            <a:pPr algn="l">
              <a:lnSpc>
                <a:spcPts val="7498"/>
              </a:lnSpc>
            </a:pPr>
            <a:r>
              <a:rPr lang="en-US" sz="2999" b="1">
                <a:solidFill>
                  <a:srgbClr val="000000"/>
                </a:solidFill>
                <a:latin typeface="Telegraf Bold"/>
                <a:ea typeface="Telegraf Bold"/>
                <a:cs typeface="Telegraf Bold"/>
                <a:sym typeface="Telegraf Bold"/>
              </a:rPr>
              <a:t>PRESENTED BY:</a:t>
            </a:r>
          </a:p>
        </p:txBody>
      </p:sp>
      <p:sp>
        <p:nvSpPr>
          <p:cNvPr id="9" name="TextBox 9"/>
          <p:cNvSpPr txBox="1"/>
          <p:nvPr/>
        </p:nvSpPr>
        <p:spPr>
          <a:xfrm>
            <a:off x="8963997" y="7271772"/>
            <a:ext cx="5818803" cy="1651658"/>
          </a:xfrm>
          <a:prstGeom prst="rect">
            <a:avLst/>
          </a:prstGeom>
        </p:spPr>
        <p:txBody>
          <a:bodyPr wrap="square" lIns="0" tIns="0" rIns="0" bIns="0" rtlCol="0" anchor="t">
            <a:spAutoFit/>
          </a:bodyPr>
          <a:lstStyle/>
          <a:p>
            <a:pPr marL="647538" lvl="1" indent="-323769" algn="l">
              <a:lnSpc>
                <a:spcPts val="4318"/>
              </a:lnSpc>
              <a:buFont typeface="Arial"/>
              <a:buChar char="•"/>
            </a:pPr>
            <a:r>
              <a:rPr lang="en-US" sz="2999" b="1" dirty="0">
                <a:solidFill>
                  <a:srgbClr val="000000"/>
                </a:solidFill>
                <a:latin typeface="Telegraf Bold"/>
                <a:ea typeface="Telegraf Bold"/>
                <a:cs typeface="Telegraf Bold"/>
                <a:sym typeface="Telegraf Bold"/>
              </a:rPr>
              <a:t>SANDIPAN RAKSHIT</a:t>
            </a:r>
          </a:p>
          <a:p>
            <a:pPr marL="647538" lvl="1" indent="-323769" algn="l">
              <a:lnSpc>
                <a:spcPts val="4318"/>
              </a:lnSpc>
              <a:buFont typeface="Arial"/>
              <a:buChar char="•"/>
            </a:pPr>
            <a:r>
              <a:rPr lang="en-US" sz="2999" b="1" dirty="0">
                <a:solidFill>
                  <a:srgbClr val="000000"/>
                </a:solidFill>
                <a:latin typeface="Telegraf Bold"/>
                <a:ea typeface="Telegraf Bold"/>
                <a:cs typeface="Telegraf Bold"/>
                <a:sym typeface="Telegraf Bold"/>
              </a:rPr>
              <a:t>CHINMOY DAS</a:t>
            </a:r>
          </a:p>
          <a:p>
            <a:pPr marL="647538" lvl="1" indent="-323769" algn="l">
              <a:lnSpc>
                <a:spcPts val="4318"/>
              </a:lnSpc>
              <a:buFont typeface="Arial"/>
              <a:buChar char="•"/>
            </a:pPr>
            <a:r>
              <a:rPr lang="en-US" sz="2999" b="1" dirty="0">
                <a:solidFill>
                  <a:srgbClr val="000000"/>
                </a:solidFill>
                <a:latin typeface="Telegraf Bold"/>
                <a:ea typeface="Telegraf Bold"/>
                <a:cs typeface="Telegraf Bold"/>
                <a:sym typeface="Telegraf Bold"/>
              </a:rPr>
              <a:t>SOURANGSHU KUNDU</a:t>
            </a:r>
          </a:p>
        </p:txBody>
      </p:sp>
      <p:sp>
        <p:nvSpPr>
          <p:cNvPr id="10" name="TextBox 10"/>
          <p:cNvSpPr txBox="1"/>
          <p:nvPr/>
        </p:nvSpPr>
        <p:spPr>
          <a:xfrm>
            <a:off x="8092288" y="2032530"/>
            <a:ext cx="8922382" cy="3641693"/>
          </a:xfrm>
          <a:prstGeom prst="rect">
            <a:avLst/>
          </a:prstGeom>
        </p:spPr>
        <p:txBody>
          <a:bodyPr lIns="0" tIns="0" rIns="0" bIns="0" rtlCol="0" anchor="t">
            <a:spAutoFit/>
          </a:bodyPr>
          <a:lstStyle/>
          <a:p>
            <a:pPr algn="l">
              <a:lnSpc>
                <a:spcPts val="8929"/>
              </a:lnSpc>
            </a:pPr>
            <a:r>
              <a:rPr lang="en-US" sz="9999">
                <a:solidFill>
                  <a:srgbClr val="290606"/>
                </a:solidFill>
                <a:latin typeface="Cheddar"/>
                <a:ea typeface="Cheddar"/>
                <a:cs typeface="Cheddar"/>
                <a:sym typeface="Cheddar"/>
              </a:rPr>
              <a:t>AI-POWERED FORM FILLING ASSISTANT FOR INDIAN CITIZENS</a:t>
            </a:r>
          </a:p>
        </p:txBody>
      </p:sp>
      <p:sp>
        <p:nvSpPr>
          <p:cNvPr id="11" name="TextBox 11"/>
          <p:cNvSpPr txBox="1"/>
          <p:nvPr/>
        </p:nvSpPr>
        <p:spPr>
          <a:xfrm>
            <a:off x="2377195" y="566604"/>
            <a:ext cx="6937267" cy="847992"/>
          </a:xfrm>
          <a:prstGeom prst="rect">
            <a:avLst/>
          </a:prstGeom>
        </p:spPr>
        <p:txBody>
          <a:bodyPr lIns="0" tIns="0" rIns="0" bIns="0" rtlCol="0" anchor="t">
            <a:spAutoFit/>
          </a:bodyPr>
          <a:lstStyle/>
          <a:p>
            <a:pPr algn="l">
              <a:lnSpc>
                <a:spcPts val="3347"/>
              </a:lnSpc>
            </a:pPr>
            <a:r>
              <a:rPr lang="en-US" sz="2394">
                <a:solidFill>
                  <a:srgbClr val="290606"/>
                </a:solidFill>
                <a:latin typeface="Telegraf"/>
                <a:ea typeface="Telegraf"/>
                <a:cs typeface="Telegraf"/>
                <a:sym typeface="Telegraf"/>
              </a:rPr>
              <a:t>Department of Computer Science &amp; Engineering  MCKV Institute of Engineering </a:t>
            </a:r>
          </a:p>
        </p:txBody>
      </p:sp>
      <p:sp>
        <p:nvSpPr>
          <p:cNvPr id="12" name="TextBox 12"/>
          <p:cNvSpPr txBox="1"/>
          <p:nvPr/>
        </p:nvSpPr>
        <p:spPr>
          <a:xfrm>
            <a:off x="398708" y="4427454"/>
            <a:ext cx="6896576" cy="561975"/>
          </a:xfrm>
          <a:prstGeom prst="rect">
            <a:avLst/>
          </a:prstGeom>
        </p:spPr>
        <p:txBody>
          <a:bodyPr lIns="0" tIns="0" rIns="0" bIns="0" rtlCol="0" anchor="t">
            <a:spAutoFit/>
          </a:bodyPr>
          <a:lstStyle/>
          <a:p>
            <a:pPr algn="ctr">
              <a:lnSpc>
                <a:spcPts val="4200"/>
              </a:lnSpc>
              <a:spcBef>
                <a:spcPct val="0"/>
              </a:spcBef>
            </a:pPr>
            <a:r>
              <a:rPr lang="en-US" sz="3000" b="1">
                <a:solidFill>
                  <a:srgbClr val="000000"/>
                </a:solidFill>
                <a:latin typeface="Telegraf Bold"/>
                <a:ea typeface="Telegraf Bold"/>
                <a:cs typeface="Telegraf Bold"/>
                <a:sym typeface="Telegraf Bold"/>
              </a:rPr>
              <a:t>Intel Unnati Industrial Training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1477327" y="2215258"/>
            <a:ext cx="6106763" cy="5443557"/>
          </a:xfrm>
          <a:custGeom>
            <a:avLst/>
            <a:gdLst/>
            <a:ahLst/>
            <a:cxnLst/>
            <a:rect l="l" t="t" r="r" b="b"/>
            <a:pathLst>
              <a:path w="6106763" h="5443557">
                <a:moveTo>
                  <a:pt x="0" y="0"/>
                </a:moveTo>
                <a:lnTo>
                  <a:pt x="6106764" y="0"/>
                </a:lnTo>
                <a:lnTo>
                  <a:pt x="6106764" y="5443556"/>
                </a:lnTo>
                <a:lnTo>
                  <a:pt x="0" y="54435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a:grpSpLocks noChangeAspect="1"/>
          </p:cNvGrpSpPr>
          <p:nvPr/>
        </p:nvGrpSpPr>
        <p:grpSpPr>
          <a:xfrm>
            <a:off x="10184397" y="2449278"/>
            <a:ext cx="87525" cy="87525"/>
            <a:chOff x="0" y="0"/>
            <a:chExt cx="87528" cy="87528"/>
          </a:xfrm>
        </p:grpSpPr>
        <p:sp>
          <p:nvSpPr>
            <p:cNvPr id="4" name="Freeform 4"/>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5" name="Group 5"/>
          <p:cNvGrpSpPr>
            <a:grpSpLocks noChangeAspect="1"/>
          </p:cNvGrpSpPr>
          <p:nvPr/>
        </p:nvGrpSpPr>
        <p:grpSpPr>
          <a:xfrm>
            <a:off x="10184397" y="3023073"/>
            <a:ext cx="87525" cy="87525"/>
            <a:chOff x="0" y="0"/>
            <a:chExt cx="87528" cy="87528"/>
          </a:xfrm>
        </p:grpSpPr>
        <p:sp>
          <p:nvSpPr>
            <p:cNvPr id="6" name="Freeform 6"/>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7" name="Group 7"/>
          <p:cNvGrpSpPr>
            <a:grpSpLocks noChangeAspect="1"/>
          </p:cNvGrpSpPr>
          <p:nvPr/>
        </p:nvGrpSpPr>
        <p:grpSpPr>
          <a:xfrm>
            <a:off x="10184397" y="3596878"/>
            <a:ext cx="87525" cy="87525"/>
            <a:chOff x="0" y="0"/>
            <a:chExt cx="87528" cy="87528"/>
          </a:xfrm>
        </p:grpSpPr>
        <p:sp>
          <p:nvSpPr>
            <p:cNvPr id="8" name="Freeform 8"/>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9" name="Group 9"/>
          <p:cNvGrpSpPr>
            <a:grpSpLocks noChangeAspect="1"/>
          </p:cNvGrpSpPr>
          <p:nvPr/>
        </p:nvGrpSpPr>
        <p:grpSpPr>
          <a:xfrm>
            <a:off x="10184397" y="4170674"/>
            <a:ext cx="87525" cy="87525"/>
            <a:chOff x="0" y="0"/>
            <a:chExt cx="87528" cy="87528"/>
          </a:xfrm>
        </p:grpSpPr>
        <p:sp>
          <p:nvSpPr>
            <p:cNvPr id="10" name="Freeform 10"/>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11" name="Group 11"/>
          <p:cNvGrpSpPr>
            <a:grpSpLocks noChangeAspect="1"/>
          </p:cNvGrpSpPr>
          <p:nvPr/>
        </p:nvGrpSpPr>
        <p:grpSpPr>
          <a:xfrm>
            <a:off x="10184397" y="4744479"/>
            <a:ext cx="87525" cy="87525"/>
            <a:chOff x="0" y="0"/>
            <a:chExt cx="87528" cy="87528"/>
          </a:xfrm>
        </p:grpSpPr>
        <p:sp>
          <p:nvSpPr>
            <p:cNvPr id="12" name="Freeform 12"/>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13" name="Group 13"/>
          <p:cNvGrpSpPr>
            <a:grpSpLocks noChangeAspect="1"/>
          </p:cNvGrpSpPr>
          <p:nvPr/>
        </p:nvGrpSpPr>
        <p:grpSpPr>
          <a:xfrm>
            <a:off x="10184397" y="5318274"/>
            <a:ext cx="87525" cy="87525"/>
            <a:chOff x="0" y="0"/>
            <a:chExt cx="87528" cy="87528"/>
          </a:xfrm>
        </p:grpSpPr>
        <p:sp>
          <p:nvSpPr>
            <p:cNvPr id="14" name="Freeform 14"/>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15" name="Group 15"/>
          <p:cNvGrpSpPr>
            <a:grpSpLocks noChangeAspect="1"/>
          </p:cNvGrpSpPr>
          <p:nvPr/>
        </p:nvGrpSpPr>
        <p:grpSpPr>
          <a:xfrm>
            <a:off x="10184397" y="5892079"/>
            <a:ext cx="87525" cy="87525"/>
            <a:chOff x="0" y="0"/>
            <a:chExt cx="87528" cy="87528"/>
          </a:xfrm>
        </p:grpSpPr>
        <p:sp>
          <p:nvSpPr>
            <p:cNvPr id="16" name="Freeform 16"/>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17" name="Group 17"/>
          <p:cNvGrpSpPr>
            <a:grpSpLocks noChangeAspect="1"/>
          </p:cNvGrpSpPr>
          <p:nvPr/>
        </p:nvGrpSpPr>
        <p:grpSpPr>
          <a:xfrm>
            <a:off x="10184397" y="6465875"/>
            <a:ext cx="87525" cy="87525"/>
            <a:chOff x="0" y="0"/>
            <a:chExt cx="87528" cy="87528"/>
          </a:xfrm>
        </p:grpSpPr>
        <p:sp>
          <p:nvSpPr>
            <p:cNvPr id="18" name="Freeform 18"/>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19" name="Group 19"/>
          <p:cNvGrpSpPr>
            <a:grpSpLocks noChangeAspect="1"/>
          </p:cNvGrpSpPr>
          <p:nvPr/>
        </p:nvGrpSpPr>
        <p:grpSpPr>
          <a:xfrm>
            <a:off x="10184397" y="7613475"/>
            <a:ext cx="87525" cy="87525"/>
            <a:chOff x="0" y="0"/>
            <a:chExt cx="87528" cy="87528"/>
          </a:xfrm>
        </p:grpSpPr>
        <p:sp>
          <p:nvSpPr>
            <p:cNvPr id="20" name="Freeform 20"/>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grpSp>
        <p:nvGrpSpPr>
          <p:cNvPr id="21" name="Group 21"/>
          <p:cNvGrpSpPr>
            <a:grpSpLocks noChangeAspect="1"/>
          </p:cNvGrpSpPr>
          <p:nvPr/>
        </p:nvGrpSpPr>
        <p:grpSpPr>
          <a:xfrm>
            <a:off x="10184397" y="8187271"/>
            <a:ext cx="87525" cy="87525"/>
            <a:chOff x="0" y="0"/>
            <a:chExt cx="87528" cy="87528"/>
          </a:xfrm>
        </p:grpSpPr>
        <p:sp>
          <p:nvSpPr>
            <p:cNvPr id="22" name="Freeform 22"/>
            <p:cNvSpPr/>
            <p:nvPr/>
          </p:nvSpPr>
          <p:spPr>
            <a:xfrm>
              <a:off x="0" y="0"/>
              <a:ext cx="87630" cy="87630"/>
            </a:xfrm>
            <a:custGeom>
              <a:avLst/>
              <a:gdLst/>
              <a:ahLst/>
              <a:cxnLst/>
              <a:rect l="l" t="t" r="r" b="b"/>
              <a:pathLst>
                <a:path w="87630" h="87630">
                  <a:moveTo>
                    <a:pt x="87503" y="43815"/>
                  </a:moveTo>
                  <a:cubicBezTo>
                    <a:pt x="87503" y="49657"/>
                    <a:pt x="86360" y="55245"/>
                    <a:pt x="84201" y="60579"/>
                  </a:cubicBezTo>
                  <a:cubicBezTo>
                    <a:pt x="82042" y="65913"/>
                    <a:pt x="78867" y="70612"/>
                    <a:pt x="74676" y="74803"/>
                  </a:cubicBezTo>
                  <a:cubicBezTo>
                    <a:pt x="70485" y="78994"/>
                    <a:pt x="65786" y="82042"/>
                    <a:pt x="60452" y="84328"/>
                  </a:cubicBezTo>
                  <a:cubicBezTo>
                    <a:pt x="55118" y="86614"/>
                    <a:pt x="49530" y="87630"/>
                    <a:pt x="43688" y="87630"/>
                  </a:cubicBezTo>
                  <a:cubicBezTo>
                    <a:pt x="37846" y="87630"/>
                    <a:pt x="32258" y="86487"/>
                    <a:pt x="26924" y="84328"/>
                  </a:cubicBezTo>
                  <a:cubicBezTo>
                    <a:pt x="21590" y="82169"/>
                    <a:pt x="16891" y="78994"/>
                    <a:pt x="12700" y="74803"/>
                  </a:cubicBezTo>
                  <a:cubicBezTo>
                    <a:pt x="8509" y="70612"/>
                    <a:pt x="5461" y="65913"/>
                    <a:pt x="3175" y="60579"/>
                  </a:cubicBezTo>
                  <a:cubicBezTo>
                    <a:pt x="889" y="55245"/>
                    <a:pt x="0" y="49530"/>
                    <a:pt x="0" y="43815"/>
                  </a:cubicBezTo>
                  <a:cubicBezTo>
                    <a:pt x="0" y="38100"/>
                    <a:pt x="1143" y="32385"/>
                    <a:pt x="3302" y="27051"/>
                  </a:cubicBezTo>
                  <a:cubicBezTo>
                    <a:pt x="5461" y="21717"/>
                    <a:pt x="8636" y="17018"/>
                    <a:pt x="12827" y="12827"/>
                  </a:cubicBezTo>
                  <a:cubicBezTo>
                    <a:pt x="17018" y="8636"/>
                    <a:pt x="21717" y="5588"/>
                    <a:pt x="27051" y="3302"/>
                  </a:cubicBezTo>
                  <a:cubicBezTo>
                    <a:pt x="32385" y="1016"/>
                    <a:pt x="37973" y="0"/>
                    <a:pt x="43815" y="0"/>
                  </a:cubicBezTo>
                  <a:cubicBezTo>
                    <a:pt x="49657" y="0"/>
                    <a:pt x="55245" y="1143"/>
                    <a:pt x="60579" y="3302"/>
                  </a:cubicBezTo>
                  <a:cubicBezTo>
                    <a:pt x="65913" y="5461"/>
                    <a:pt x="70612" y="8636"/>
                    <a:pt x="74803" y="12827"/>
                  </a:cubicBezTo>
                  <a:cubicBezTo>
                    <a:pt x="78994" y="17018"/>
                    <a:pt x="82042" y="21717"/>
                    <a:pt x="84328" y="27051"/>
                  </a:cubicBezTo>
                  <a:cubicBezTo>
                    <a:pt x="86614" y="32385"/>
                    <a:pt x="87630" y="37973"/>
                    <a:pt x="87630" y="43815"/>
                  </a:cubicBezTo>
                  <a:close/>
                </a:path>
              </a:pathLst>
            </a:custGeom>
            <a:solidFill>
              <a:srgbClr val="290606"/>
            </a:solidFill>
          </p:spPr>
        </p:sp>
      </p:grpSp>
      <p:sp>
        <p:nvSpPr>
          <p:cNvPr id="23" name="TextBox 23"/>
          <p:cNvSpPr txBox="1"/>
          <p:nvPr/>
        </p:nvSpPr>
        <p:spPr>
          <a:xfrm>
            <a:off x="10431932" y="2168452"/>
            <a:ext cx="4671270" cy="6294749"/>
          </a:xfrm>
          <a:prstGeom prst="rect">
            <a:avLst/>
          </a:prstGeom>
        </p:spPr>
        <p:txBody>
          <a:bodyPr lIns="0" tIns="0" rIns="0" bIns="0" rtlCol="0" anchor="t">
            <a:spAutoFit/>
          </a:bodyPr>
          <a:lstStyle/>
          <a:p>
            <a:pPr algn="l">
              <a:lnSpc>
                <a:spcPts val="4516"/>
              </a:lnSpc>
            </a:pPr>
            <a:r>
              <a:rPr lang="en-US" sz="2858" b="1">
                <a:solidFill>
                  <a:srgbClr val="290606"/>
                </a:solidFill>
                <a:latin typeface="Telegraf Medium"/>
                <a:ea typeface="Telegraf Medium"/>
                <a:cs typeface="Telegraf Medium"/>
                <a:sym typeface="Telegraf Medium"/>
              </a:rPr>
              <a:t>Introduction Problem Statement Proposed solution System Architecture Implementation workflow Tech Stack User Interfaces Future scope and further enhancements Conclusion Acknowledgement</a:t>
            </a:r>
          </a:p>
        </p:txBody>
      </p:sp>
      <p:sp>
        <p:nvSpPr>
          <p:cNvPr id="24" name="TextBox 24"/>
          <p:cNvSpPr txBox="1"/>
          <p:nvPr/>
        </p:nvSpPr>
        <p:spPr>
          <a:xfrm>
            <a:off x="9479099" y="768382"/>
            <a:ext cx="7935754" cy="1298534"/>
          </a:xfrm>
          <a:prstGeom prst="rect">
            <a:avLst/>
          </a:prstGeom>
        </p:spPr>
        <p:txBody>
          <a:bodyPr lIns="0" tIns="0" rIns="0" bIns="0" rtlCol="0" anchor="t">
            <a:spAutoFit/>
          </a:bodyPr>
          <a:lstStyle/>
          <a:p>
            <a:pPr algn="l">
              <a:lnSpc>
                <a:spcPts val="9799"/>
              </a:lnSpc>
            </a:pPr>
            <a:r>
              <a:rPr lang="en-US" sz="6999" spc="342">
                <a:solidFill>
                  <a:srgbClr val="290606"/>
                </a:solidFill>
                <a:latin typeface="Cheddar"/>
                <a:ea typeface="Cheddar"/>
                <a:cs typeface="Cheddar"/>
                <a:sym typeface="Cheddar"/>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0" y="2276370"/>
            <a:ext cx="10899648" cy="3617243"/>
          </a:xfrm>
          <a:custGeom>
            <a:avLst/>
            <a:gdLst/>
            <a:ahLst/>
            <a:cxnLst/>
            <a:rect l="l" t="t" r="r" b="b"/>
            <a:pathLst>
              <a:path w="10899648" h="3617243">
                <a:moveTo>
                  <a:pt x="0" y="0"/>
                </a:moveTo>
                <a:lnTo>
                  <a:pt x="10899648" y="0"/>
                </a:lnTo>
                <a:lnTo>
                  <a:pt x="10899648" y="3617243"/>
                </a:lnTo>
                <a:lnTo>
                  <a:pt x="0" y="36172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1959438" y="2028825"/>
            <a:ext cx="5365261" cy="3727485"/>
          </a:xfrm>
          <a:custGeom>
            <a:avLst/>
            <a:gdLst/>
            <a:ahLst/>
            <a:cxnLst/>
            <a:rect l="l" t="t" r="r" b="b"/>
            <a:pathLst>
              <a:path w="5365261" h="3727485">
                <a:moveTo>
                  <a:pt x="0" y="0"/>
                </a:moveTo>
                <a:lnTo>
                  <a:pt x="5365261" y="0"/>
                </a:lnTo>
                <a:lnTo>
                  <a:pt x="5365261" y="3727485"/>
                </a:lnTo>
                <a:lnTo>
                  <a:pt x="0" y="37274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1282732"/>
            <a:ext cx="4812954" cy="784184"/>
          </a:xfrm>
          <a:prstGeom prst="rect">
            <a:avLst/>
          </a:prstGeom>
        </p:spPr>
        <p:txBody>
          <a:bodyPr lIns="0" tIns="0" rIns="0" bIns="0" rtlCol="0" anchor="t">
            <a:spAutoFit/>
          </a:bodyPr>
          <a:lstStyle/>
          <a:p>
            <a:pPr algn="l">
              <a:lnSpc>
                <a:spcPts val="4346"/>
              </a:lnSpc>
            </a:pPr>
            <a:r>
              <a:rPr lang="en-US" sz="6999" spc="342">
                <a:solidFill>
                  <a:srgbClr val="290606"/>
                </a:solidFill>
                <a:latin typeface="Cheddar"/>
                <a:ea typeface="Cheddar"/>
                <a:cs typeface="Cheddar"/>
                <a:sym typeface="Cheddar"/>
              </a:rPr>
              <a:t>INTRODUCTION</a:t>
            </a:r>
          </a:p>
        </p:txBody>
      </p:sp>
      <p:sp>
        <p:nvSpPr>
          <p:cNvPr id="5" name="TextBox 5"/>
          <p:cNvSpPr txBox="1"/>
          <p:nvPr/>
        </p:nvSpPr>
        <p:spPr>
          <a:xfrm>
            <a:off x="1876711" y="1959473"/>
            <a:ext cx="98298" cy="843810"/>
          </a:xfrm>
          <a:prstGeom prst="rect">
            <a:avLst/>
          </a:prstGeom>
        </p:spPr>
        <p:txBody>
          <a:bodyPr lIns="0" tIns="0" rIns="0" bIns="0" rtlCol="0" anchor="t">
            <a:spAutoFit/>
          </a:bodyPr>
          <a:lstStyle/>
          <a:p>
            <a:pPr algn="l">
              <a:lnSpc>
                <a:spcPts val="7498"/>
              </a:lnSpc>
            </a:pPr>
            <a:r>
              <a:rPr lang="en-US" sz="2999" b="1">
                <a:solidFill>
                  <a:srgbClr val="FFFFFF"/>
                </a:solidFill>
                <a:latin typeface="Telegraf Bold"/>
                <a:ea typeface="Telegraf Bold"/>
                <a:cs typeface="Telegraf Bold"/>
                <a:sym typeface="Telegraf Bold"/>
              </a:rPr>
              <a:t> </a:t>
            </a:r>
          </a:p>
        </p:txBody>
      </p:sp>
      <p:sp>
        <p:nvSpPr>
          <p:cNvPr id="6" name="TextBox 6"/>
          <p:cNvSpPr txBox="1"/>
          <p:nvPr/>
        </p:nvSpPr>
        <p:spPr>
          <a:xfrm>
            <a:off x="285455" y="2330948"/>
            <a:ext cx="10215572" cy="472335"/>
          </a:xfrm>
          <a:prstGeom prst="rect">
            <a:avLst/>
          </a:prstGeom>
        </p:spPr>
        <p:txBody>
          <a:bodyPr lIns="0" tIns="0" rIns="0" bIns="0" rtlCol="0" anchor="t">
            <a:spAutoFit/>
          </a:bodyPr>
          <a:lstStyle/>
          <a:p>
            <a:pPr algn="l">
              <a:lnSpc>
                <a:spcPts val="3524"/>
              </a:lnSpc>
            </a:pPr>
            <a:r>
              <a:rPr lang="en-US" sz="2999" b="1" spc="146">
                <a:solidFill>
                  <a:srgbClr val="FFFFFF"/>
                </a:solidFill>
                <a:latin typeface="Telegraf Bold"/>
                <a:ea typeface="Telegraf Bold"/>
                <a:cs typeface="Telegraf Bold"/>
                <a:sym typeface="Telegraf Bold"/>
              </a:rPr>
              <a:t>Millionsofcitizens visit Seva Kendras centers to</a:t>
            </a:r>
          </a:p>
        </p:txBody>
      </p:sp>
      <p:sp>
        <p:nvSpPr>
          <p:cNvPr id="7" name="TextBox 7"/>
          <p:cNvSpPr txBox="1"/>
          <p:nvPr/>
        </p:nvSpPr>
        <p:spPr>
          <a:xfrm>
            <a:off x="285455" y="2778623"/>
            <a:ext cx="10467280" cy="3158385"/>
          </a:xfrm>
          <a:prstGeom prst="rect">
            <a:avLst/>
          </a:prstGeom>
        </p:spPr>
        <p:txBody>
          <a:bodyPr lIns="0" tIns="0" rIns="0" bIns="0" rtlCol="0" anchor="t">
            <a:spAutoFit/>
          </a:bodyPr>
          <a:lstStyle/>
          <a:p>
            <a:pPr algn="l">
              <a:lnSpc>
                <a:spcPts val="3524"/>
              </a:lnSpc>
            </a:pPr>
            <a:r>
              <a:rPr lang="en-US" sz="2999" b="1" spc="146">
                <a:solidFill>
                  <a:srgbClr val="FFFFFF"/>
                </a:solidFill>
                <a:latin typeface="Telegraf Bold"/>
                <a:ea typeface="Telegraf Bold"/>
                <a:cs typeface="Telegraf Bold"/>
                <a:sym typeface="Telegraf Bold"/>
              </a:rPr>
              <a:t>apply for essential services such as birth certificates, PAN cards, income certificates, and various welfare schemes. Although most citizens carry valid identification documents like Aadhaar, PAN, or voter IDs, the information printed on these documents must still be manually typed into multiple forms for each application.</a:t>
            </a:r>
          </a:p>
        </p:txBody>
      </p:sp>
      <p:sp>
        <p:nvSpPr>
          <p:cNvPr id="8" name="TextBox 8"/>
          <p:cNvSpPr txBox="1"/>
          <p:nvPr/>
        </p:nvSpPr>
        <p:spPr>
          <a:xfrm>
            <a:off x="852183" y="6506718"/>
            <a:ext cx="16519836" cy="2767965"/>
          </a:xfrm>
          <a:prstGeom prst="rect">
            <a:avLst/>
          </a:prstGeom>
        </p:spPr>
        <p:txBody>
          <a:bodyPr lIns="0" tIns="0" rIns="0" bIns="0" rtlCol="0" anchor="t">
            <a:spAutoFit/>
          </a:bodyPr>
          <a:lstStyle/>
          <a:p>
            <a:pPr algn="l">
              <a:lnSpc>
                <a:spcPts val="3600"/>
              </a:lnSpc>
            </a:pPr>
            <a:r>
              <a:rPr lang="en-US" sz="3000" spc="147">
                <a:solidFill>
                  <a:srgbClr val="290606"/>
                </a:solidFill>
                <a:latin typeface="Telegraf"/>
                <a:ea typeface="Telegraf"/>
                <a:cs typeface="Telegraf"/>
                <a:sym typeface="Telegraf"/>
              </a:rPr>
              <a:t>This project introduces an AI-Powered Form Filling Assistant, a web based system designed to automatically extract personal information from identity documents and intelligently populate multiple government forms within seconds. The solution leverages recent advancements in Optical Character Recognition (OCR), Natural Language Processing (NLP), and Large Language Models (LLMs) to deliver a fast, accurate, and scalable automation tool.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12072985" y="965197"/>
            <a:ext cx="5249818" cy="5537197"/>
          </a:xfrm>
          <a:custGeom>
            <a:avLst/>
            <a:gdLst/>
            <a:ahLst/>
            <a:cxnLst/>
            <a:rect l="l" t="t" r="r" b="b"/>
            <a:pathLst>
              <a:path w="5249818" h="5537197">
                <a:moveTo>
                  <a:pt x="0" y="0"/>
                </a:moveTo>
                <a:lnTo>
                  <a:pt x="5249818" y="0"/>
                </a:lnTo>
                <a:lnTo>
                  <a:pt x="5249818" y="5537197"/>
                </a:lnTo>
                <a:lnTo>
                  <a:pt x="0" y="55371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2186016"/>
            <a:ext cx="10578675" cy="5842387"/>
          </a:xfrm>
          <a:prstGeom prst="rect">
            <a:avLst/>
          </a:prstGeom>
        </p:spPr>
        <p:txBody>
          <a:bodyPr lIns="0" tIns="0" rIns="0" bIns="0" rtlCol="0" anchor="t">
            <a:spAutoFit/>
          </a:bodyPr>
          <a:lstStyle/>
          <a:p>
            <a:pPr algn="just">
              <a:lnSpc>
                <a:spcPts val="9799"/>
              </a:lnSpc>
            </a:pPr>
            <a:r>
              <a:rPr lang="en-US" sz="6999" spc="342">
                <a:solidFill>
                  <a:srgbClr val="290606"/>
                </a:solidFill>
                <a:latin typeface="Cheddar"/>
                <a:ea typeface="Cheddar"/>
                <a:cs typeface="Cheddar"/>
                <a:sym typeface="Cheddar"/>
              </a:rPr>
              <a:t>PROBLEM STATEMENT</a:t>
            </a:r>
          </a:p>
          <a:p>
            <a:pPr algn="just">
              <a:lnSpc>
                <a:spcPts val="4147"/>
              </a:lnSpc>
            </a:pPr>
            <a:r>
              <a:rPr lang="en-US" sz="3496" spc="171">
                <a:solidFill>
                  <a:srgbClr val="290606"/>
                </a:solidFill>
                <a:latin typeface="Telegraf"/>
                <a:ea typeface="Telegraf"/>
                <a:cs typeface="Telegraf"/>
                <a:sym typeface="Telegraf"/>
              </a:rPr>
              <a:t>Citizens often need to fill in multiple government service forms at Seva Kendras (e.g., for certificates, licenses, and welfare schemes). This project aims to build an AI tool that auto-fills these forms based on uploaded documents (Aadhaar, PAN, voter ID, etc.), reducing manual effort and errors.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1028700" y="6354347"/>
            <a:ext cx="9385897" cy="2410016"/>
          </a:xfrm>
          <a:custGeom>
            <a:avLst/>
            <a:gdLst/>
            <a:ahLst/>
            <a:cxnLst/>
            <a:rect l="l" t="t" r="r" b="b"/>
            <a:pathLst>
              <a:path w="9385897" h="2410016">
                <a:moveTo>
                  <a:pt x="0" y="0"/>
                </a:moveTo>
                <a:lnTo>
                  <a:pt x="9385897" y="0"/>
                </a:lnTo>
                <a:lnTo>
                  <a:pt x="9385897" y="2410015"/>
                </a:lnTo>
                <a:lnTo>
                  <a:pt x="0" y="241001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2361257"/>
            <a:ext cx="9384763" cy="3369564"/>
          </a:xfrm>
          <a:custGeom>
            <a:avLst/>
            <a:gdLst/>
            <a:ahLst/>
            <a:cxnLst/>
            <a:rect l="l" t="t" r="r" b="b"/>
            <a:pathLst>
              <a:path w="9384763" h="3369564">
                <a:moveTo>
                  <a:pt x="0" y="0"/>
                </a:moveTo>
                <a:lnTo>
                  <a:pt x="9384763" y="0"/>
                </a:lnTo>
                <a:lnTo>
                  <a:pt x="9384763" y="3369564"/>
                </a:lnTo>
                <a:lnTo>
                  <a:pt x="0" y="33695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1832355" y="1176776"/>
            <a:ext cx="5490448" cy="6696923"/>
          </a:xfrm>
          <a:custGeom>
            <a:avLst/>
            <a:gdLst/>
            <a:ahLst/>
            <a:cxnLst/>
            <a:rect l="l" t="t" r="r" b="b"/>
            <a:pathLst>
              <a:path w="5490448" h="6696923">
                <a:moveTo>
                  <a:pt x="0" y="0"/>
                </a:moveTo>
                <a:lnTo>
                  <a:pt x="5490448" y="0"/>
                </a:lnTo>
                <a:lnTo>
                  <a:pt x="5490448" y="6696922"/>
                </a:lnTo>
                <a:lnTo>
                  <a:pt x="0" y="669692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491110" y="6496841"/>
            <a:ext cx="8631631" cy="2139315"/>
          </a:xfrm>
          <a:prstGeom prst="rect">
            <a:avLst/>
          </a:prstGeom>
        </p:spPr>
        <p:txBody>
          <a:bodyPr lIns="0" tIns="0" rIns="0" bIns="0" rtlCol="0" anchor="t">
            <a:spAutoFit/>
          </a:bodyPr>
          <a:lstStyle/>
          <a:p>
            <a:pPr algn="ctr">
              <a:lnSpc>
                <a:spcPts val="4200"/>
              </a:lnSpc>
            </a:pPr>
            <a:r>
              <a:rPr lang="en-US" sz="3000" b="1">
                <a:solidFill>
                  <a:srgbClr val="FFFFFF"/>
                </a:solidFill>
                <a:latin typeface="Telegraf Bold"/>
                <a:ea typeface="Telegraf Bold"/>
                <a:cs typeface="Telegraf Bold"/>
                <a:sym typeface="Telegraf Bold"/>
              </a:rPr>
              <a:t>The system is designed as a web-based application with a clean separation between frontend, backend, and AI modules, ensuring scalability, modularity.</a:t>
            </a:r>
          </a:p>
        </p:txBody>
      </p:sp>
      <p:sp>
        <p:nvSpPr>
          <p:cNvPr id="6" name="TextBox 6"/>
          <p:cNvSpPr txBox="1"/>
          <p:nvPr/>
        </p:nvSpPr>
        <p:spPr>
          <a:xfrm>
            <a:off x="1243755" y="2446601"/>
            <a:ext cx="9136447" cy="3206115"/>
          </a:xfrm>
          <a:prstGeom prst="rect">
            <a:avLst/>
          </a:prstGeom>
        </p:spPr>
        <p:txBody>
          <a:bodyPr lIns="0" tIns="0" rIns="0" bIns="0" rtlCol="0" anchor="t">
            <a:spAutoFit/>
          </a:bodyPr>
          <a:lstStyle/>
          <a:p>
            <a:pPr algn="ctr">
              <a:lnSpc>
                <a:spcPts val="4200"/>
              </a:lnSpc>
            </a:pPr>
            <a:r>
              <a:rPr lang="en-US" sz="3000" b="1">
                <a:solidFill>
                  <a:srgbClr val="FFFFFF"/>
                </a:solidFill>
                <a:latin typeface="Telegraf Bold"/>
                <a:ea typeface="Telegraf Bold"/>
                <a:cs typeface="Telegraf Bold"/>
                <a:sym typeface="Telegraf Bold"/>
              </a:rPr>
              <a:t>The solution leverages the combined power of Optical Character Recognition (OCR), Large Language Models (LLMs), and intelligent field- mapping algorithms to transform a traditionally manual workflow into a fast, automated, and error-resistant process. </a:t>
            </a:r>
          </a:p>
        </p:txBody>
      </p:sp>
      <p:sp>
        <p:nvSpPr>
          <p:cNvPr id="7" name="TextBox 7"/>
          <p:cNvSpPr txBox="1"/>
          <p:nvPr/>
        </p:nvSpPr>
        <p:spPr>
          <a:xfrm>
            <a:off x="1028700" y="768382"/>
            <a:ext cx="6905701" cy="1298534"/>
          </a:xfrm>
          <a:prstGeom prst="rect">
            <a:avLst/>
          </a:prstGeom>
        </p:spPr>
        <p:txBody>
          <a:bodyPr lIns="0" tIns="0" rIns="0" bIns="0" rtlCol="0" anchor="t">
            <a:spAutoFit/>
          </a:bodyPr>
          <a:lstStyle/>
          <a:p>
            <a:pPr algn="l">
              <a:lnSpc>
                <a:spcPts val="9799"/>
              </a:lnSpc>
            </a:pPr>
            <a:r>
              <a:rPr lang="en-US" sz="6999" spc="342">
                <a:solidFill>
                  <a:srgbClr val="290606"/>
                </a:solidFill>
                <a:latin typeface="Cheddar"/>
                <a:ea typeface="Cheddar"/>
                <a:cs typeface="Cheddar"/>
                <a:sym typeface="Cheddar"/>
              </a:rPr>
              <a:t>PROPOSED SOLUTION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8985647" y="293865"/>
            <a:ext cx="7429500" cy="9696450"/>
          </a:xfrm>
          <a:custGeom>
            <a:avLst/>
            <a:gdLst/>
            <a:ahLst/>
            <a:cxnLst/>
            <a:rect l="l" t="t" r="r" b="b"/>
            <a:pathLst>
              <a:path w="7429500" h="9696450">
                <a:moveTo>
                  <a:pt x="0" y="0"/>
                </a:moveTo>
                <a:lnTo>
                  <a:pt x="7429500" y="0"/>
                </a:lnTo>
                <a:lnTo>
                  <a:pt x="7429500" y="9696450"/>
                </a:lnTo>
                <a:lnTo>
                  <a:pt x="0" y="9696450"/>
                </a:lnTo>
                <a:lnTo>
                  <a:pt x="0" y="0"/>
                </a:lnTo>
                <a:close/>
              </a:path>
            </a:pathLst>
          </a:custGeom>
          <a:blipFill>
            <a:blip r:embed="rId2"/>
            <a:stretch>
              <a:fillRect/>
            </a:stretch>
          </a:blipFill>
        </p:spPr>
      </p:sp>
      <p:sp>
        <p:nvSpPr>
          <p:cNvPr id="3" name="Freeform 3"/>
          <p:cNvSpPr/>
          <p:nvPr/>
        </p:nvSpPr>
        <p:spPr>
          <a:xfrm>
            <a:off x="2014347" y="2600001"/>
            <a:ext cx="3051019" cy="6745500"/>
          </a:xfrm>
          <a:custGeom>
            <a:avLst/>
            <a:gdLst/>
            <a:ahLst/>
            <a:cxnLst/>
            <a:rect l="l" t="t" r="r" b="b"/>
            <a:pathLst>
              <a:path w="3051019" h="6745500">
                <a:moveTo>
                  <a:pt x="0" y="0"/>
                </a:moveTo>
                <a:lnTo>
                  <a:pt x="3051019" y="0"/>
                </a:lnTo>
                <a:lnTo>
                  <a:pt x="3051019" y="6745500"/>
                </a:lnTo>
                <a:lnTo>
                  <a:pt x="0" y="6745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509902" y="1339558"/>
            <a:ext cx="7921247" cy="1298534"/>
          </a:xfrm>
          <a:prstGeom prst="rect">
            <a:avLst/>
          </a:prstGeom>
        </p:spPr>
        <p:txBody>
          <a:bodyPr lIns="0" tIns="0" rIns="0" bIns="0" rtlCol="0" anchor="t">
            <a:spAutoFit/>
          </a:bodyPr>
          <a:lstStyle/>
          <a:p>
            <a:pPr algn="l">
              <a:lnSpc>
                <a:spcPts val="9799"/>
              </a:lnSpc>
            </a:pPr>
            <a:r>
              <a:rPr lang="en-US" sz="6999" spc="342">
                <a:solidFill>
                  <a:srgbClr val="290606"/>
                </a:solidFill>
                <a:latin typeface="Cheddar"/>
                <a:ea typeface="Cheddar"/>
                <a:cs typeface="Cheddar"/>
                <a:sym typeface="Cheddar"/>
              </a:rPr>
              <a:t>SYSTEM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1448459" y="1174241"/>
            <a:ext cx="15391082" cy="8849872"/>
          </a:xfrm>
          <a:custGeom>
            <a:avLst/>
            <a:gdLst/>
            <a:ahLst/>
            <a:cxnLst/>
            <a:rect l="l" t="t" r="r" b="b"/>
            <a:pathLst>
              <a:path w="15391082" h="8849872">
                <a:moveTo>
                  <a:pt x="0" y="0"/>
                </a:moveTo>
                <a:lnTo>
                  <a:pt x="15391082" y="0"/>
                </a:lnTo>
                <a:lnTo>
                  <a:pt x="15391082" y="8849873"/>
                </a:lnTo>
                <a:lnTo>
                  <a:pt x="0" y="8849873"/>
                </a:lnTo>
                <a:lnTo>
                  <a:pt x="0" y="0"/>
                </a:lnTo>
                <a:close/>
              </a:path>
            </a:pathLst>
          </a:custGeom>
          <a:blipFill>
            <a:blip r:embed="rId2"/>
            <a:stretch>
              <a:fillRect/>
            </a:stretch>
          </a:blipFill>
        </p:spPr>
      </p:sp>
      <p:sp>
        <p:nvSpPr>
          <p:cNvPr id="3" name="TextBox 3"/>
          <p:cNvSpPr txBox="1"/>
          <p:nvPr/>
        </p:nvSpPr>
        <p:spPr>
          <a:xfrm>
            <a:off x="7256740" y="-162440"/>
            <a:ext cx="3774519" cy="1336681"/>
          </a:xfrm>
          <a:prstGeom prst="rect">
            <a:avLst/>
          </a:prstGeom>
        </p:spPr>
        <p:txBody>
          <a:bodyPr lIns="0" tIns="0" rIns="0" bIns="0" rtlCol="0" anchor="t">
            <a:spAutoFit/>
          </a:bodyPr>
          <a:lstStyle/>
          <a:p>
            <a:pPr algn="l">
              <a:lnSpc>
                <a:spcPts val="9799"/>
              </a:lnSpc>
            </a:pPr>
            <a:r>
              <a:rPr lang="en-US" sz="6999" spc="342">
                <a:solidFill>
                  <a:srgbClr val="290606"/>
                </a:solidFill>
                <a:latin typeface="Cheddar"/>
                <a:ea typeface="Cheddar"/>
                <a:cs typeface="Cheddar"/>
                <a:sym typeface="Cheddar"/>
              </a:rPr>
              <a:t>Workflow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335861" y="2384927"/>
            <a:ext cx="5514975" cy="5514975"/>
          </a:xfrm>
          <a:custGeom>
            <a:avLst/>
            <a:gdLst/>
            <a:ahLst/>
            <a:cxnLst/>
            <a:rect l="l" t="t" r="r" b="b"/>
            <a:pathLst>
              <a:path w="5514975" h="5514975">
                <a:moveTo>
                  <a:pt x="0" y="0"/>
                </a:moveTo>
                <a:lnTo>
                  <a:pt x="5514975" y="0"/>
                </a:lnTo>
                <a:lnTo>
                  <a:pt x="5514975" y="5514975"/>
                </a:lnTo>
                <a:lnTo>
                  <a:pt x="0" y="5514975"/>
                </a:lnTo>
                <a:lnTo>
                  <a:pt x="0" y="0"/>
                </a:lnTo>
                <a:close/>
              </a:path>
            </a:pathLst>
          </a:custGeom>
          <a:blipFill>
            <a:blip r:embed="rId2"/>
            <a:stretch>
              <a:fillRect/>
            </a:stretch>
          </a:blipFill>
        </p:spPr>
      </p:sp>
      <p:sp>
        <p:nvSpPr>
          <p:cNvPr id="3" name="Freeform 3"/>
          <p:cNvSpPr/>
          <p:nvPr/>
        </p:nvSpPr>
        <p:spPr>
          <a:xfrm>
            <a:off x="8945099" y="1983038"/>
            <a:ext cx="8172469" cy="803786"/>
          </a:xfrm>
          <a:custGeom>
            <a:avLst/>
            <a:gdLst/>
            <a:ahLst/>
            <a:cxnLst/>
            <a:rect l="l" t="t" r="r" b="b"/>
            <a:pathLst>
              <a:path w="8172469" h="803786">
                <a:moveTo>
                  <a:pt x="0" y="0"/>
                </a:moveTo>
                <a:lnTo>
                  <a:pt x="8172469" y="0"/>
                </a:lnTo>
                <a:lnTo>
                  <a:pt x="8172469" y="803786"/>
                </a:lnTo>
                <a:lnTo>
                  <a:pt x="0" y="8037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8945099" y="3281791"/>
            <a:ext cx="8172469" cy="803786"/>
          </a:xfrm>
          <a:custGeom>
            <a:avLst/>
            <a:gdLst/>
            <a:ahLst/>
            <a:cxnLst/>
            <a:rect l="l" t="t" r="r" b="b"/>
            <a:pathLst>
              <a:path w="8172469" h="803786">
                <a:moveTo>
                  <a:pt x="0" y="0"/>
                </a:moveTo>
                <a:lnTo>
                  <a:pt x="8172469" y="0"/>
                </a:lnTo>
                <a:lnTo>
                  <a:pt x="8172469" y="803786"/>
                </a:lnTo>
                <a:lnTo>
                  <a:pt x="0" y="80378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9087545" y="4638027"/>
            <a:ext cx="8172841" cy="803786"/>
          </a:xfrm>
          <a:custGeom>
            <a:avLst/>
            <a:gdLst/>
            <a:ahLst/>
            <a:cxnLst/>
            <a:rect l="l" t="t" r="r" b="b"/>
            <a:pathLst>
              <a:path w="8172841" h="803786">
                <a:moveTo>
                  <a:pt x="0" y="0"/>
                </a:moveTo>
                <a:lnTo>
                  <a:pt x="8172841" y="0"/>
                </a:lnTo>
                <a:lnTo>
                  <a:pt x="8172841" y="803786"/>
                </a:lnTo>
                <a:lnTo>
                  <a:pt x="0" y="80378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a:off x="9087545" y="5965679"/>
            <a:ext cx="8172841" cy="803786"/>
          </a:xfrm>
          <a:custGeom>
            <a:avLst/>
            <a:gdLst/>
            <a:ahLst/>
            <a:cxnLst/>
            <a:rect l="l" t="t" r="r" b="b"/>
            <a:pathLst>
              <a:path w="8172841" h="803786">
                <a:moveTo>
                  <a:pt x="0" y="0"/>
                </a:moveTo>
                <a:lnTo>
                  <a:pt x="8172841" y="0"/>
                </a:lnTo>
                <a:lnTo>
                  <a:pt x="8172841" y="803786"/>
                </a:lnTo>
                <a:lnTo>
                  <a:pt x="0" y="80378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a:off x="9087545" y="7264765"/>
            <a:ext cx="8172841" cy="803786"/>
          </a:xfrm>
          <a:custGeom>
            <a:avLst/>
            <a:gdLst/>
            <a:ahLst/>
            <a:cxnLst/>
            <a:rect l="l" t="t" r="r" b="b"/>
            <a:pathLst>
              <a:path w="8172841" h="803786">
                <a:moveTo>
                  <a:pt x="0" y="0"/>
                </a:moveTo>
                <a:lnTo>
                  <a:pt x="8172841" y="0"/>
                </a:lnTo>
                <a:lnTo>
                  <a:pt x="8172841" y="803786"/>
                </a:lnTo>
                <a:lnTo>
                  <a:pt x="0" y="80378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a:off x="9087545" y="8621001"/>
            <a:ext cx="8172841" cy="803786"/>
          </a:xfrm>
          <a:custGeom>
            <a:avLst/>
            <a:gdLst/>
            <a:ahLst/>
            <a:cxnLst/>
            <a:rect l="l" t="t" r="r" b="b"/>
            <a:pathLst>
              <a:path w="8172841" h="803786">
                <a:moveTo>
                  <a:pt x="0" y="0"/>
                </a:moveTo>
                <a:lnTo>
                  <a:pt x="8172841" y="0"/>
                </a:lnTo>
                <a:lnTo>
                  <a:pt x="8172841" y="803786"/>
                </a:lnTo>
                <a:lnTo>
                  <a:pt x="0" y="803786"/>
                </a:lnTo>
                <a:lnTo>
                  <a:pt x="0" y="0"/>
                </a:lnTo>
                <a:close/>
              </a:path>
            </a:pathLst>
          </a:custGeom>
          <a:blipFill>
            <a:blip r:embed="rId11">
              <a:extLst>
                <a:ext uri="{96DAC541-7B7A-43D3-8B79-37D633B846F1}">
                  <asvg:svgBlip xmlns:asvg="http://schemas.microsoft.com/office/drawing/2016/SVG/main" r:embed="rId13"/>
                </a:ext>
              </a:extLst>
            </a:blip>
            <a:stretch>
              <a:fillRect/>
            </a:stretch>
          </a:blipFill>
        </p:spPr>
      </p:sp>
      <p:sp>
        <p:nvSpPr>
          <p:cNvPr id="9" name="Freeform 9"/>
          <p:cNvSpPr/>
          <p:nvPr/>
        </p:nvSpPr>
        <p:spPr>
          <a:xfrm>
            <a:off x="12378957" y="2649426"/>
            <a:ext cx="485775" cy="781050"/>
          </a:xfrm>
          <a:custGeom>
            <a:avLst/>
            <a:gdLst/>
            <a:ahLst/>
            <a:cxnLst/>
            <a:rect l="l" t="t" r="r" b="b"/>
            <a:pathLst>
              <a:path w="485775" h="781050">
                <a:moveTo>
                  <a:pt x="0" y="0"/>
                </a:moveTo>
                <a:lnTo>
                  <a:pt x="485775" y="0"/>
                </a:lnTo>
                <a:lnTo>
                  <a:pt x="485775" y="781050"/>
                </a:lnTo>
                <a:lnTo>
                  <a:pt x="0" y="781050"/>
                </a:lnTo>
                <a:lnTo>
                  <a:pt x="0" y="0"/>
                </a:lnTo>
                <a:close/>
              </a:path>
            </a:pathLst>
          </a:custGeom>
          <a:blipFill>
            <a:blip r:embed="rId14"/>
            <a:stretch>
              <a:fillRect/>
            </a:stretch>
          </a:blipFill>
        </p:spPr>
      </p:sp>
      <p:sp>
        <p:nvSpPr>
          <p:cNvPr id="10" name="Freeform 10"/>
          <p:cNvSpPr/>
          <p:nvPr/>
        </p:nvSpPr>
        <p:spPr>
          <a:xfrm>
            <a:off x="12378957" y="3959257"/>
            <a:ext cx="485775" cy="781050"/>
          </a:xfrm>
          <a:custGeom>
            <a:avLst/>
            <a:gdLst/>
            <a:ahLst/>
            <a:cxnLst/>
            <a:rect l="l" t="t" r="r" b="b"/>
            <a:pathLst>
              <a:path w="485775" h="781050">
                <a:moveTo>
                  <a:pt x="0" y="0"/>
                </a:moveTo>
                <a:lnTo>
                  <a:pt x="485775" y="0"/>
                </a:lnTo>
                <a:lnTo>
                  <a:pt x="485775" y="781050"/>
                </a:lnTo>
                <a:lnTo>
                  <a:pt x="0" y="781050"/>
                </a:lnTo>
                <a:lnTo>
                  <a:pt x="0" y="0"/>
                </a:lnTo>
                <a:close/>
              </a:path>
            </a:pathLst>
          </a:custGeom>
          <a:blipFill>
            <a:blip r:embed="rId14"/>
            <a:stretch>
              <a:fillRect/>
            </a:stretch>
          </a:blipFill>
        </p:spPr>
      </p:sp>
      <p:sp>
        <p:nvSpPr>
          <p:cNvPr id="11" name="Freeform 11"/>
          <p:cNvSpPr/>
          <p:nvPr/>
        </p:nvSpPr>
        <p:spPr>
          <a:xfrm>
            <a:off x="12378957" y="5265487"/>
            <a:ext cx="485775" cy="781050"/>
          </a:xfrm>
          <a:custGeom>
            <a:avLst/>
            <a:gdLst/>
            <a:ahLst/>
            <a:cxnLst/>
            <a:rect l="l" t="t" r="r" b="b"/>
            <a:pathLst>
              <a:path w="485775" h="781050">
                <a:moveTo>
                  <a:pt x="0" y="0"/>
                </a:moveTo>
                <a:lnTo>
                  <a:pt x="485775" y="0"/>
                </a:lnTo>
                <a:lnTo>
                  <a:pt x="485775" y="781050"/>
                </a:lnTo>
                <a:lnTo>
                  <a:pt x="0" y="781050"/>
                </a:lnTo>
                <a:lnTo>
                  <a:pt x="0" y="0"/>
                </a:lnTo>
                <a:close/>
              </a:path>
            </a:pathLst>
          </a:custGeom>
          <a:blipFill>
            <a:blip r:embed="rId14"/>
            <a:stretch>
              <a:fillRect/>
            </a:stretch>
          </a:blipFill>
        </p:spPr>
      </p:sp>
      <p:sp>
        <p:nvSpPr>
          <p:cNvPr id="12" name="Freeform 12"/>
          <p:cNvSpPr/>
          <p:nvPr/>
        </p:nvSpPr>
        <p:spPr>
          <a:xfrm>
            <a:off x="12378957" y="6543132"/>
            <a:ext cx="485775" cy="781050"/>
          </a:xfrm>
          <a:custGeom>
            <a:avLst/>
            <a:gdLst/>
            <a:ahLst/>
            <a:cxnLst/>
            <a:rect l="l" t="t" r="r" b="b"/>
            <a:pathLst>
              <a:path w="485775" h="781050">
                <a:moveTo>
                  <a:pt x="0" y="0"/>
                </a:moveTo>
                <a:lnTo>
                  <a:pt x="485775" y="0"/>
                </a:lnTo>
                <a:lnTo>
                  <a:pt x="485775" y="781050"/>
                </a:lnTo>
                <a:lnTo>
                  <a:pt x="0" y="781050"/>
                </a:lnTo>
                <a:lnTo>
                  <a:pt x="0" y="0"/>
                </a:lnTo>
                <a:close/>
              </a:path>
            </a:pathLst>
          </a:custGeom>
          <a:blipFill>
            <a:blip r:embed="rId14"/>
            <a:stretch>
              <a:fillRect/>
            </a:stretch>
          </a:blipFill>
        </p:spPr>
      </p:sp>
      <p:sp>
        <p:nvSpPr>
          <p:cNvPr id="13" name="Freeform 13"/>
          <p:cNvSpPr/>
          <p:nvPr/>
        </p:nvSpPr>
        <p:spPr>
          <a:xfrm>
            <a:off x="12378957" y="7902073"/>
            <a:ext cx="485775" cy="781050"/>
          </a:xfrm>
          <a:custGeom>
            <a:avLst/>
            <a:gdLst/>
            <a:ahLst/>
            <a:cxnLst/>
            <a:rect l="l" t="t" r="r" b="b"/>
            <a:pathLst>
              <a:path w="485775" h="781050">
                <a:moveTo>
                  <a:pt x="0" y="0"/>
                </a:moveTo>
                <a:lnTo>
                  <a:pt x="485775" y="0"/>
                </a:lnTo>
                <a:lnTo>
                  <a:pt x="485775" y="781050"/>
                </a:lnTo>
                <a:lnTo>
                  <a:pt x="0" y="781050"/>
                </a:lnTo>
                <a:lnTo>
                  <a:pt x="0" y="0"/>
                </a:lnTo>
                <a:close/>
              </a:path>
            </a:pathLst>
          </a:custGeom>
          <a:blipFill>
            <a:blip r:embed="rId14"/>
            <a:stretch>
              <a:fillRect/>
            </a:stretch>
          </a:blipFill>
        </p:spPr>
      </p:sp>
      <p:sp>
        <p:nvSpPr>
          <p:cNvPr id="14" name="TextBox 14"/>
          <p:cNvSpPr txBox="1"/>
          <p:nvPr/>
        </p:nvSpPr>
        <p:spPr>
          <a:xfrm>
            <a:off x="1028700" y="1197007"/>
            <a:ext cx="10078374" cy="869909"/>
          </a:xfrm>
          <a:prstGeom prst="rect">
            <a:avLst/>
          </a:prstGeom>
        </p:spPr>
        <p:txBody>
          <a:bodyPr lIns="0" tIns="0" rIns="0" bIns="0" rtlCol="0" anchor="t">
            <a:spAutoFit/>
          </a:bodyPr>
          <a:lstStyle/>
          <a:p>
            <a:pPr algn="l">
              <a:lnSpc>
                <a:spcPts val="5256"/>
              </a:lnSpc>
            </a:pPr>
            <a:r>
              <a:rPr lang="en-US" sz="6999" spc="342">
                <a:solidFill>
                  <a:srgbClr val="290606"/>
                </a:solidFill>
                <a:latin typeface="Cheddar"/>
                <a:ea typeface="Cheddar"/>
                <a:cs typeface="Cheddar"/>
                <a:sym typeface="Cheddar"/>
              </a:rPr>
              <a:t>IMPLEMENTATION WORKFLOW</a:t>
            </a:r>
          </a:p>
        </p:txBody>
      </p:sp>
      <p:sp>
        <p:nvSpPr>
          <p:cNvPr id="15" name="TextBox 15"/>
          <p:cNvSpPr txBox="1"/>
          <p:nvPr/>
        </p:nvSpPr>
        <p:spPr>
          <a:xfrm>
            <a:off x="11418846" y="1801682"/>
            <a:ext cx="98317" cy="853440"/>
          </a:xfrm>
          <a:prstGeom prst="rect">
            <a:avLst/>
          </a:prstGeom>
        </p:spPr>
        <p:txBody>
          <a:bodyPr lIns="0" tIns="0" rIns="0" bIns="0" rtlCol="0" anchor="t">
            <a:spAutoFit/>
          </a:bodyPr>
          <a:lstStyle/>
          <a:p>
            <a:pPr algn="l">
              <a:lnSpc>
                <a:spcPts val="7500"/>
              </a:lnSpc>
            </a:pPr>
            <a:r>
              <a:rPr lang="en-US" sz="3000" b="1">
                <a:solidFill>
                  <a:srgbClr val="FFFFFF"/>
                </a:solidFill>
                <a:latin typeface="Telegraf Bold"/>
                <a:ea typeface="Telegraf Bold"/>
                <a:cs typeface="Telegraf Bold"/>
                <a:sym typeface="Telegraf Bold"/>
              </a:rPr>
              <a:t> </a:t>
            </a:r>
          </a:p>
        </p:txBody>
      </p:sp>
      <p:sp>
        <p:nvSpPr>
          <p:cNvPr id="16" name="TextBox 16"/>
          <p:cNvSpPr txBox="1"/>
          <p:nvPr/>
        </p:nvSpPr>
        <p:spPr>
          <a:xfrm>
            <a:off x="11357896" y="3414760"/>
            <a:ext cx="3412855"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2. Pre-Processing</a:t>
            </a:r>
          </a:p>
        </p:txBody>
      </p:sp>
      <p:sp>
        <p:nvSpPr>
          <p:cNvPr id="17" name="TextBox 17"/>
          <p:cNvSpPr txBox="1"/>
          <p:nvPr/>
        </p:nvSpPr>
        <p:spPr>
          <a:xfrm>
            <a:off x="11149098" y="2116007"/>
            <a:ext cx="3838785"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1.Document Upload</a:t>
            </a:r>
          </a:p>
        </p:txBody>
      </p:sp>
      <p:sp>
        <p:nvSpPr>
          <p:cNvPr id="18" name="TextBox 18"/>
          <p:cNvSpPr txBox="1"/>
          <p:nvPr/>
        </p:nvSpPr>
        <p:spPr>
          <a:xfrm>
            <a:off x="11031388" y="4770996"/>
            <a:ext cx="4369641"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3. OCR Text Extraction</a:t>
            </a:r>
          </a:p>
        </p:txBody>
      </p:sp>
      <p:sp>
        <p:nvSpPr>
          <p:cNvPr id="19" name="TextBox 19"/>
          <p:cNvSpPr txBox="1"/>
          <p:nvPr/>
        </p:nvSpPr>
        <p:spPr>
          <a:xfrm>
            <a:off x="10891485" y="7397734"/>
            <a:ext cx="4654887"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5. Form Mapping Engine</a:t>
            </a:r>
          </a:p>
        </p:txBody>
      </p:sp>
      <p:sp>
        <p:nvSpPr>
          <p:cNvPr id="20" name="TextBox 20"/>
          <p:cNvSpPr txBox="1"/>
          <p:nvPr/>
        </p:nvSpPr>
        <p:spPr>
          <a:xfrm>
            <a:off x="10534298" y="8753970"/>
            <a:ext cx="5383549"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6. Review / Edit &amp; Download</a:t>
            </a:r>
          </a:p>
        </p:txBody>
      </p:sp>
      <p:sp>
        <p:nvSpPr>
          <p:cNvPr id="21" name="TextBox 21"/>
          <p:cNvSpPr txBox="1"/>
          <p:nvPr/>
        </p:nvSpPr>
        <p:spPr>
          <a:xfrm>
            <a:off x="10491140" y="6098648"/>
            <a:ext cx="5471770"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4. AI Entity Extraction (LLM)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5136604" y="2501932"/>
            <a:ext cx="11944350" cy="5743575"/>
          </a:xfrm>
          <a:custGeom>
            <a:avLst/>
            <a:gdLst/>
            <a:ahLst/>
            <a:cxnLst/>
            <a:rect l="l" t="t" r="r" b="b"/>
            <a:pathLst>
              <a:path w="11944350" h="5743575">
                <a:moveTo>
                  <a:pt x="0" y="0"/>
                </a:moveTo>
                <a:lnTo>
                  <a:pt x="11944350" y="0"/>
                </a:lnTo>
                <a:lnTo>
                  <a:pt x="11944350" y="5743575"/>
                </a:lnTo>
                <a:lnTo>
                  <a:pt x="0" y="5743575"/>
                </a:lnTo>
                <a:lnTo>
                  <a:pt x="0" y="0"/>
                </a:lnTo>
                <a:close/>
              </a:path>
            </a:pathLst>
          </a:custGeom>
          <a:blipFill>
            <a:blip r:embed="rId2"/>
            <a:stretch>
              <a:fillRect/>
            </a:stretch>
          </a:blipFill>
        </p:spPr>
      </p:sp>
      <p:sp>
        <p:nvSpPr>
          <p:cNvPr id="3" name="Freeform 3"/>
          <p:cNvSpPr/>
          <p:nvPr/>
        </p:nvSpPr>
        <p:spPr>
          <a:xfrm>
            <a:off x="289722" y="2501932"/>
            <a:ext cx="3886200" cy="5838825"/>
          </a:xfrm>
          <a:custGeom>
            <a:avLst/>
            <a:gdLst/>
            <a:ahLst/>
            <a:cxnLst/>
            <a:rect l="l" t="t" r="r" b="b"/>
            <a:pathLst>
              <a:path w="3886200" h="5838825">
                <a:moveTo>
                  <a:pt x="0" y="0"/>
                </a:moveTo>
                <a:lnTo>
                  <a:pt x="3886200" y="0"/>
                </a:lnTo>
                <a:lnTo>
                  <a:pt x="3886200" y="5838825"/>
                </a:lnTo>
                <a:lnTo>
                  <a:pt x="0" y="5838825"/>
                </a:lnTo>
                <a:lnTo>
                  <a:pt x="0" y="0"/>
                </a:lnTo>
                <a:close/>
              </a:path>
            </a:pathLst>
          </a:custGeom>
          <a:blipFill>
            <a:blip r:embed="rId3"/>
            <a:stretch>
              <a:fillRect/>
            </a:stretch>
          </a:blipFill>
        </p:spPr>
      </p:sp>
      <p:sp>
        <p:nvSpPr>
          <p:cNvPr id="4" name="TextBox 4"/>
          <p:cNvSpPr txBox="1"/>
          <p:nvPr/>
        </p:nvSpPr>
        <p:spPr>
          <a:xfrm>
            <a:off x="804910" y="862841"/>
            <a:ext cx="6669948" cy="1298534"/>
          </a:xfrm>
          <a:prstGeom prst="rect">
            <a:avLst/>
          </a:prstGeom>
        </p:spPr>
        <p:txBody>
          <a:bodyPr lIns="0" tIns="0" rIns="0" bIns="0" rtlCol="0" anchor="t">
            <a:spAutoFit/>
          </a:bodyPr>
          <a:lstStyle/>
          <a:p>
            <a:pPr algn="l">
              <a:lnSpc>
                <a:spcPts val="9799"/>
              </a:lnSpc>
            </a:pPr>
            <a:r>
              <a:rPr lang="en-US" sz="6999" spc="342">
                <a:solidFill>
                  <a:srgbClr val="290606"/>
                </a:solidFill>
                <a:latin typeface="Cheddar"/>
                <a:ea typeface="Cheddar"/>
                <a:cs typeface="Cheddar"/>
                <a:sym typeface="Cheddar"/>
              </a:rPr>
              <a:t>TECHNOLOGY STACK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2588638" y="2248833"/>
            <a:ext cx="13106400" cy="7324725"/>
          </a:xfrm>
          <a:custGeom>
            <a:avLst/>
            <a:gdLst/>
            <a:ahLst/>
            <a:cxnLst/>
            <a:rect l="l" t="t" r="r" b="b"/>
            <a:pathLst>
              <a:path w="13106400" h="7324725">
                <a:moveTo>
                  <a:pt x="0" y="0"/>
                </a:moveTo>
                <a:lnTo>
                  <a:pt x="13106400" y="0"/>
                </a:lnTo>
                <a:lnTo>
                  <a:pt x="13106400" y="7324725"/>
                </a:lnTo>
                <a:lnTo>
                  <a:pt x="0" y="7324725"/>
                </a:lnTo>
                <a:lnTo>
                  <a:pt x="0" y="0"/>
                </a:lnTo>
                <a:close/>
              </a:path>
            </a:pathLst>
          </a:custGeom>
          <a:blipFill>
            <a:blip r:embed="rId2"/>
            <a:stretch>
              <a:fillRect l="-10413" t="-13654" r="-17711" b="-15343"/>
            </a:stretch>
          </a:blipFill>
        </p:spPr>
      </p:sp>
      <p:sp>
        <p:nvSpPr>
          <p:cNvPr id="3" name="TextBox 3"/>
          <p:cNvSpPr txBox="1"/>
          <p:nvPr/>
        </p:nvSpPr>
        <p:spPr>
          <a:xfrm>
            <a:off x="555993" y="91364"/>
            <a:ext cx="5962698" cy="1165184"/>
          </a:xfrm>
          <a:prstGeom prst="rect">
            <a:avLst/>
          </a:prstGeom>
        </p:spPr>
        <p:txBody>
          <a:bodyPr lIns="0" tIns="0" rIns="0" bIns="0" rtlCol="0" anchor="t">
            <a:spAutoFit/>
          </a:bodyPr>
          <a:lstStyle/>
          <a:p>
            <a:pPr algn="l">
              <a:lnSpc>
                <a:spcPts val="8308"/>
              </a:lnSpc>
            </a:pPr>
            <a:r>
              <a:rPr lang="en-US" sz="6999" spc="342">
                <a:solidFill>
                  <a:srgbClr val="290606"/>
                </a:solidFill>
                <a:latin typeface="Cheddar"/>
                <a:ea typeface="Cheddar"/>
                <a:cs typeface="Cheddar"/>
                <a:sym typeface="Cheddar"/>
              </a:rPr>
              <a:t>USER INTERFACES</a:t>
            </a:r>
          </a:p>
        </p:txBody>
      </p:sp>
      <p:sp>
        <p:nvSpPr>
          <p:cNvPr id="4" name="TextBox 4"/>
          <p:cNvSpPr txBox="1"/>
          <p:nvPr/>
        </p:nvSpPr>
        <p:spPr>
          <a:xfrm>
            <a:off x="3178854" y="1066333"/>
            <a:ext cx="134407" cy="874062"/>
          </a:xfrm>
          <a:prstGeom prst="rect">
            <a:avLst/>
          </a:prstGeom>
        </p:spPr>
        <p:txBody>
          <a:bodyPr lIns="0" tIns="0" rIns="0" bIns="0" rtlCol="0" anchor="t">
            <a:spAutoFit/>
          </a:bodyPr>
          <a:lstStyle/>
          <a:p>
            <a:pPr algn="l">
              <a:lnSpc>
                <a:spcPts val="7113"/>
              </a:lnSpc>
            </a:pPr>
            <a:r>
              <a:rPr lang="en-US" sz="4399" b="1">
                <a:solidFill>
                  <a:srgbClr val="000000"/>
                </a:solidFill>
                <a:latin typeface="Canva Sans Bold"/>
                <a:ea typeface="Canva Sans Bold"/>
                <a:cs typeface="Canva Sans Bold"/>
                <a:sym typeface="Canva Sans Bold"/>
              </a:rPr>
              <a:t> </a:t>
            </a:r>
          </a:p>
        </p:txBody>
      </p:sp>
      <p:sp>
        <p:nvSpPr>
          <p:cNvPr id="5" name="TextBox 5"/>
          <p:cNvSpPr txBox="1"/>
          <p:nvPr/>
        </p:nvSpPr>
        <p:spPr>
          <a:xfrm>
            <a:off x="2718911" y="1161583"/>
            <a:ext cx="6133414" cy="778812"/>
          </a:xfrm>
          <a:prstGeom prst="rect">
            <a:avLst/>
          </a:prstGeom>
        </p:spPr>
        <p:txBody>
          <a:bodyPr lIns="0" tIns="0" rIns="0" bIns="0" rtlCol="0" anchor="t">
            <a:spAutoFit/>
          </a:bodyPr>
          <a:lstStyle/>
          <a:p>
            <a:pPr algn="l">
              <a:lnSpc>
                <a:spcPts val="6159"/>
              </a:lnSpc>
            </a:pPr>
            <a:r>
              <a:rPr lang="en-US" sz="4399" b="1">
                <a:solidFill>
                  <a:srgbClr val="000000"/>
                </a:solidFill>
                <a:latin typeface="Canva Sans Bold"/>
                <a:ea typeface="Canva Sans Bold"/>
                <a:cs typeface="Canva Sans Bold"/>
                <a:sym typeface="Canva Sans Bold"/>
              </a:rPr>
              <a:t>1.Uploadinginterface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2193836" y="1692754"/>
            <a:ext cx="13639800" cy="7458075"/>
          </a:xfrm>
          <a:custGeom>
            <a:avLst/>
            <a:gdLst/>
            <a:ahLst/>
            <a:cxnLst/>
            <a:rect l="l" t="t" r="r" b="b"/>
            <a:pathLst>
              <a:path w="13639800" h="7458075">
                <a:moveTo>
                  <a:pt x="0" y="0"/>
                </a:moveTo>
                <a:lnTo>
                  <a:pt x="13639800" y="0"/>
                </a:lnTo>
                <a:lnTo>
                  <a:pt x="13639800" y="7458075"/>
                </a:lnTo>
                <a:lnTo>
                  <a:pt x="0" y="7458075"/>
                </a:lnTo>
                <a:lnTo>
                  <a:pt x="0" y="0"/>
                </a:lnTo>
                <a:close/>
              </a:path>
            </a:pathLst>
          </a:custGeom>
          <a:blipFill>
            <a:blip r:embed="rId2"/>
            <a:stretch>
              <a:fillRect l="-10474" t="-15041" r="-18924" b="-18163"/>
            </a:stretch>
          </a:blipFill>
        </p:spPr>
      </p:sp>
      <p:sp>
        <p:nvSpPr>
          <p:cNvPr id="3" name="TextBox 3"/>
          <p:cNvSpPr txBox="1"/>
          <p:nvPr/>
        </p:nvSpPr>
        <p:spPr>
          <a:xfrm>
            <a:off x="1485005" y="579501"/>
            <a:ext cx="7909408" cy="785117"/>
          </a:xfrm>
          <a:prstGeom prst="rect">
            <a:avLst/>
          </a:prstGeom>
        </p:spPr>
        <p:txBody>
          <a:bodyPr lIns="0" tIns="0" rIns="0" bIns="0" rtlCol="0" anchor="t">
            <a:spAutoFit/>
          </a:bodyPr>
          <a:lstStyle/>
          <a:p>
            <a:pPr algn="l">
              <a:lnSpc>
                <a:spcPts val="6299"/>
              </a:lnSpc>
            </a:pPr>
            <a:r>
              <a:rPr lang="en-US" sz="4500" b="1">
                <a:solidFill>
                  <a:srgbClr val="000000"/>
                </a:solidFill>
                <a:latin typeface="Canva Sans Bold"/>
                <a:ea typeface="Canva Sans Bold"/>
                <a:cs typeface="Canva Sans Bold"/>
                <a:sym typeface="Canva Sans Bold"/>
              </a:rPr>
              <a:t>2. Form Templates interface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2274780" y="1566186"/>
            <a:ext cx="13735050" cy="7696200"/>
          </a:xfrm>
          <a:custGeom>
            <a:avLst/>
            <a:gdLst/>
            <a:ahLst/>
            <a:cxnLst/>
            <a:rect l="l" t="t" r="r" b="b"/>
            <a:pathLst>
              <a:path w="13735050" h="7696200">
                <a:moveTo>
                  <a:pt x="0" y="0"/>
                </a:moveTo>
                <a:lnTo>
                  <a:pt x="13735050" y="0"/>
                </a:lnTo>
                <a:lnTo>
                  <a:pt x="13735050" y="7696200"/>
                </a:lnTo>
                <a:lnTo>
                  <a:pt x="0" y="7696200"/>
                </a:lnTo>
                <a:lnTo>
                  <a:pt x="0" y="0"/>
                </a:lnTo>
                <a:close/>
              </a:path>
            </a:pathLst>
          </a:custGeom>
          <a:blipFill>
            <a:blip r:embed="rId2"/>
            <a:stretch>
              <a:fillRect l="-7669" t="-12506" r="-14036" b="-9647"/>
            </a:stretch>
          </a:blipFill>
        </p:spPr>
      </p:sp>
      <p:sp>
        <p:nvSpPr>
          <p:cNvPr id="3" name="Freeform 3"/>
          <p:cNvSpPr/>
          <p:nvPr/>
        </p:nvSpPr>
        <p:spPr>
          <a:xfrm>
            <a:off x="4474397" y="6483001"/>
            <a:ext cx="1235173" cy="281321"/>
          </a:xfrm>
          <a:custGeom>
            <a:avLst/>
            <a:gdLst/>
            <a:ahLst/>
            <a:cxnLst/>
            <a:rect l="l" t="t" r="r" b="b"/>
            <a:pathLst>
              <a:path w="1235173" h="281321">
                <a:moveTo>
                  <a:pt x="0" y="0"/>
                </a:moveTo>
                <a:lnTo>
                  <a:pt x="1235174" y="0"/>
                </a:lnTo>
                <a:lnTo>
                  <a:pt x="1235174" y="281321"/>
                </a:lnTo>
                <a:lnTo>
                  <a:pt x="0" y="2813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826113" y="579501"/>
            <a:ext cx="6873354" cy="785117"/>
          </a:xfrm>
          <a:prstGeom prst="rect">
            <a:avLst/>
          </a:prstGeom>
        </p:spPr>
        <p:txBody>
          <a:bodyPr lIns="0" tIns="0" rIns="0" bIns="0" rtlCol="0" anchor="t">
            <a:spAutoFit/>
          </a:bodyPr>
          <a:lstStyle/>
          <a:p>
            <a:pPr algn="l">
              <a:lnSpc>
                <a:spcPts val="6299"/>
              </a:lnSpc>
            </a:pPr>
            <a:r>
              <a:rPr lang="en-US" sz="4500" b="1">
                <a:solidFill>
                  <a:srgbClr val="000000"/>
                </a:solidFill>
                <a:latin typeface="Canva Sans Bold"/>
                <a:ea typeface="Canva Sans Bold"/>
                <a:cs typeface="Canva Sans Bold"/>
                <a:sym typeface="Canva Sans Bold"/>
              </a:rPr>
              <a:t>3. Review/edit Interface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1028700" y="2978153"/>
            <a:ext cx="8172841" cy="803786"/>
          </a:xfrm>
          <a:custGeom>
            <a:avLst/>
            <a:gdLst/>
            <a:ahLst/>
            <a:cxnLst/>
            <a:rect l="l" t="t" r="r" b="b"/>
            <a:pathLst>
              <a:path w="8172841" h="803786">
                <a:moveTo>
                  <a:pt x="0" y="0"/>
                </a:moveTo>
                <a:lnTo>
                  <a:pt x="8172841" y="0"/>
                </a:lnTo>
                <a:lnTo>
                  <a:pt x="8172841" y="803786"/>
                </a:lnTo>
                <a:lnTo>
                  <a:pt x="0" y="8037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582655" y="2954074"/>
            <a:ext cx="7968758" cy="803786"/>
          </a:xfrm>
          <a:custGeom>
            <a:avLst/>
            <a:gdLst/>
            <a:ahLst/>
            <a:cxnLst/>
            <a:rect l="l" t="t" r="r" b="b"/>
            <a:pathLst>
              <a:path w="7968758" h="803786">
                <a:moveTo>
                  <a:pt x="0" y="0"/>
                </a:moveTo>
                <a:lnTo>
                  <a:pt x="7968758" y="0"/>
                </a:lnTo>
                <a:lnTo>
                  <a:pt x="7968758" y="803786"/>
                </a:lnTo>
                <a:lnTo>
                  <a:pt x="0" y="8037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08742" y="4346819"/>
            <a:ext cx="16706174" cy="6003684"/>
          </a:xfrm>
          <a:custGeom>
            <a:avLst/>
            <a:gdLst/>
            <a:ahLst/>
            <a:cxnLst/>
            <a:rect l="l" t="t" r="r" b="b"/>
            <a:pathLst>
              <a:path w="16706174" h="6003684">
                <a:moveTo>
                  <a:pt x="0" y="0"/>
                </a:moveTo>
                <a:lnTo>
                  <a:pt x="16706174" y="0"/>
                </a:lnTo>
                <a:lnTo>
                  <a:pt x="16706174" y="6003684"/>
                </a:lnTo>
                <a:lnTo>
                  <a:pt x="0" y="60036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4363555" y="1035082"/>
            <a:ext cx="9751943" cy="1917659"/>
          </a:xfrm>
          <a:prstGeom prst="rect">
            <a:avLst/>
          </a:prstGeom>
        </p:spPr>
        <p:txBody>
          <a:bodyPr lIns="0" tIns="0" rIns="0" bIns="0" rtlCol="0" anchor="t">
            <a:spAutoFit/>
          </a:bodyPr>
          <a:lstStyle/>
          <a:p>
            <a:pPr algn="ctr">
              <a:lnSpc>
                <a:spcPts val="6971"/>
              </a:lnSpc>
            </a:pPr>
            <a:r>
              <a:rPr lang="en-US" sz="6999" spc="342">
                <a:solidFill>
                  <a:srgbClr val="290606"/>
                </a:solidFill>
                <a:latin typeface="Cheddar"/>
                <a:ea typeface="Cheddar"/>
                <a:cs typeface="Cheddar"/>
                <a:sym typeface="Cheddar"/>
              </a:rPr>
              <a:t>FUTURE SCOPE AND FURTHER ENHANCEMENTS</a:t>
            </a:r>
          </a:p>
        </p:txBody>
      </p:sp>
      <p:sp>
        <p:nvSpPr>
          <p:cNvPr id="6" name="TextBox 6"/>
          <p:cNvSpPr txBox="1"/>
          <p:nvPr/>
        </p:nvSpPr>
        <p:spPr>
          <a:xfrm>
            <a:off x="5297138" y="2796797"/>
            <a:ext cx="98317" cy="853440"/>
          </a:xfrm>
          <a:prstGeom prst="rect">
            <a:avLst/>
          </a:prstGeom>
        </p:spPr>
        <p:txBody>
          <a:bodyPr lIns="0" tIns="0" rIns="0" bIns="0" rtlCol="0" anchor="t">
            <a:spAutoFit/>
          </a:bodyPr>
          <a:lstStyle/>
          <a:p>
            <a:pPr algn="l">
              <a:lnSpc>
                <a:spcPts val="7500"/>
              </a:lnSpc>
            </a:pPr>
            <a:r>
              <a:rPr lang="en-US" sz="3000" b="1">
                <a:solidFill>
                  <a:srgbClr val="FFFFFF"/>
                </a:solidFill>
                <a:latin typeface="Telegraf Bold"/>
                <a:ea typeface="Telegraf Bold"/>
                <a:cs typeface="Telegraf Bold"/>
                <a:sym typeface="Telegraf Bold"/>
              </a:rPr>
              <a:t> </a:t>
            </a:r>
          </a:p>
        </p:txBody>
      </p:sp>
      <p:sp>
        <p:nvSpPr>
          <p:cNvPr id="7" name="TextBox 7"/>
          <p:cNvSpPr txBox="1"/>
          <p:nvPr/>
        </p:nvSpPr>
        <p:spPr>
          <a:xfrm>
            <a:off x="1306506" y="4543282"/>
            <a:ext cx="7653185"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Improved Multi-Language OCR Models </a:t>
            </a:r>
          </a:p>
        </p:txBody>
      </p:sp>
      <p:sp>
        <p:nvSpPr>
          <p:cNvPr id="8" name="TextBox 8"/>
          <p:cNvSpPr txBox="1"/>
          <p:nvPr/>
        </p:nvSpPr>
        <p:spPr>
          <a:xfrm>
            <a:off x="1069181" y="3111122"/>
            <a:ext cx="8154019"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Support for AdditionalGovernmentForms</a:t>
            </a:r>
          </a:p>
        </p:txBody>
      </p:sp>
      <p:sp>
        <p:nvSpPr>
          <p:cNvPr id="9" name="TextBox 9"/>
          <p:cNvSpPr txBox="1"/>
          <p:nvPr/>
        </p:nvSpPr>
        <p:spPr>
          <a:xfrm>
            <a:off x="10205056" y="3087043"/>
            <a:ext cx="6859248"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IntegrationwithGovernment APIs </a:t>
            </a:r>
          </a:p>
        </p:txBody>
      </p:sp>
      <p:sp>
        <p:nvSpPr>
          <p:cNvPr id="10" name="TextBox 10"/>
          <p:cNvSpPr txBox="1"/>
          <p:nvPr/>
        </p:nvSpPr>
        <p:spPr>
          <a:xfrm>
            <a:off x="9683715" y="4543282"/>
            <a:ext cx="7922838" cy="539115"/>
          </a:xfrm>
          <a:prstGeom prst="rect">
            <a:avLst/>
          </a:prstGeom>
        </p:spPr>
        <p:txBody>
          <a:bodyPr lIns="0" tIns="0" rIns="0" bIns="0" rtlCol="0" anchor="t">
            <a:spAutoFit/>
          </a:bodyPr>
          <a:lstStyle/>
          <a:p>
            <a:pPr algn="l">
              <a:lnSpc>
                <a:spcPts val="4200"/>
              </a:lnSpc>
            </a:pPr>
            <a:r>
              <a:rPr lang="en-US" sz="3000" b="1">
                <a:solidFill>
                  <a:srgbClr val="FFFFFF"/>
                </a:solidFill>
                <a:latin typeface="Telegraf Bold"/>
                <a:ea typeface="Telegraf Bold"/>
                <a:cs typeface="Telegraf Bold"/>
                <a:sym typeface="Telegraf Bold"/>
              </a:rPr>
              <a:t> AI-Based Error Detection &amp; Suggestions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673265" y="2820010"/>
            <a:ext cx="4476588" cy="4680671"/>
          </a:xfrm>
          <a:custGeom>
            <a:avLst/>
            <a:gdLst/>
            <a:ahLst/>
            <a:cxnLst/>
            <a:rect l="l" t="t" r="r" b="b"/>
            <a:pathLst>
              <a:path w="4476588" h="4680671">
                <a:moveTo>
                  <a:pt x="0" y="0"/>
                </a:moveTo>
                <a:lnTo>
                  <a:pt x="4476588" y="0"/>
                </a:lnTo>
                <a:lnTo>
                  <a:pt x="4476588" y="4680670"/>
                </a:lnTo>
                <a:lnTo>
                  <a:pt x="0" y="46806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28700" y="768382"/>
            <a:ext cx="4341543" cy="1298534"/>
          </a:xfrm>
          <a:prstGeom prst="rect">
            <a:avLst/>
          </a:prstGeom>
        </p:spPr>
        <p:txBody>
          <a:bodyPr lIns="0" tIns="0" rIns="0" bIns="0" rtlCol="0" anchor="t">
            <a:spAutoFit/>
          </a:bodyPr>
          <a:lstStyle/>
          <a:p>
            <a:pPr algn="l">
              <a:lnSpc>
                <a:spcPts val="9799"/>
              </a:lnSpc>
            </a:pPr>
            <a:r>
              <a:rPr lang="en-US" sz="6999" spc="342">
                <a:solidFill>
                  <a:srgbClr val="290606"/>
                </a:solidFill>
                <a:latin typeface="Cheddar"/>
                <a:ea typeface="Cheddar"/>
                <a:cs typeface="Cheddar"/>
                <a:sym typeface="Cheddar"/>
              </a:rPr>
              <a:t>CONCLUSION </a:t>
            </a:r>
          </a:p>
        </p:txBody>
      </p:sp>
      <p:sp>
        <p:nvSpPr>
          <p:cNvPr id="4" name="TextBox 4"/>
          <p:cNvSpPr txBox="1"/>
          <p:nvPr/>
        </p:nvSpPr>
        <p:spPr>
          <a:xfrm>
            <a:off x="6501574" y="1935023"/>
            <a:ext cx="10639130" cy="5000625"/>
          </a:xfrm>
          <a:prstGeom prst="rect">
            <a:avLst/>
          </a:prstGeom>
        </p:spPr>
        <p:txBody>
          <a:bodyPr lIns="0" tIns="0" rIns="0" bIns="0" rtlCol="0" anchor="t">
            <a:spAutoFit/>
          </a:bodyPr>
          <a:lstStyle/>
          <a:p>
            <a:pPr algn="l">
              <a:lnSpc>
                <a:spcPts val="3935"/>
              </a:lnSpc>
            </a:pPr>
            <a:r>
              <a:rPr lang="en-US" sz="3279" spc="160">
                <a:solidFill>
                  <a:srgbClr val="290606"/>
                </a:solidFill>
                <a:latin typeface="Telegraf"/>
                <a:ea typeface="Telegraf"/>
                <a:cs typeface="Telegraf"/>
                <a:sym typeface="Telegraf"/>
              </a:rPr>
              <a:t>This AI-Powered Form Filling Assistant project successfully demonstrates how artificial intelligence, OCR technologies, and intelligent field-mapping techniques can significantly improve the efficiency of government service workflows. By automating the extraction and filling of personal details from documents such as Aadhaar, PAN, and voter IDs, the system reduces manual effort, minimizes errors, and speeds up application processing.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Freeform 2"/>
          <p:cNvSpPr/>
          <p:nvPr/>
        </p:nvSpPr>
        <p:spPr>
          <a:xfrm>
            <a:off x="292627" y="0"/>
            <a:ext cx="3419475" cy="4838700"/>
          </a:xfrm>
          <a:custGeom>
            <a:avLst/>
            <a:gdLst/>
            <a:ahLst/>
            <a:cxnLst/>
            <a:rect l="l" t="t" r="r" b="b"/>
            <a:pathLst>
              <a:path w="3419475" h="4838700">
                <a:moveTo>
                  <a:pt x="0" y="0"/>
                </a:moveTo>
                <a:lnTo>
                  <a:pt x="3419475" y="0"/>
                </a:lnTo>
                <a:lnTo>
                  <a:pt x="3419475" y="4838700"/>
                </a:lnTo>
                <a:lnTo>
                  <a:pt x="0" y="4838700"/>
                </a:lnTo>
                <a:lnTo>
                  <a:pt x="0" y="0"/>
                </a:lnTo>
                <a:close/>
              </a:path>
            </a:pathLst>
          </a:custGeom>
          <a:blipFill>
            <a:blip r:embed="rId2"/>
            <a:stretch>
              <a:fillRect l="-805" r="-866"/>
            </a:stretch>
          </a:blipFill>
        </p:spPr>
      </p:sp>
      <p:sp>
        <p:nvSpPr>
          <p:cNvPr id="3" name="TextBox 3"/>
          <p:cNvSpPr txBox="1"/>
          <p:nvPr/>
        </p:nvSpPr>
        <p:spPr>
          <a:xfrm>
            <a:off x="5217119" y="1368457"/>
            <a:ext cx="6816842" cy="698459"/>
          </a:xfrm>
          <a:prstGeom prst="rect">
            <a:avLst/>
          </a:prstGeom>
        </p:spPr>
        <p:txBody>
          <a:bodyPr lIns="0" tIns="0" rIns="0" bIns="0" rtlCol="0" anchor="t">
            <a:spAutoFit/>
          </a:bodyPr>
          <a:lstStyle/>
          <a:p>
            <a:pPr algn="l">
              <a:lnSpc>
                <a:spcPts val="3499"/>
              </a:lnSpc>
            </a:pPr>
            <a:r>
              <a:rPr lang="en-US" sz="6999" spc="342">
                <a:solidFill>
                  <a:srgbClr val="000000"/>
                </a:solidFill>
                <a:latin typeface="Cheddar"/>
                <a:ea typeface="Cheddar"/>
                <a:cs typeface="Cheddar"/>
                <a:sym typeface="Cheddar"/>
              </a:rPr>
              <a:t>ACKNOWLEDGEMENT</a:t>
            </a:r>
          </a:p>
        </p:txBody>
      </p:sp>
      <p:sp>
        <p:nvSpPr>
          <p:cNvPr id="4" name="TextBox 4"/>
          <p:cNvSpPr txBox="1"/>
          <p:nvPr/>
        </p:nvSpPr>
        <p:spPr>
          <a:xfrm>
            <a:off x="5292309" y="2148640"/>
            <a:ext cx="78219" cy="760028"/>
          </a:xfrm>
          <a:prstGeom prst="rect">
            <a:avLst/>
          </a:prstGeom>
        </p:spPr>
        <p:txBody>
          <a:bodyPr lIns="0" tIns="0" rIns="0" bIns="0" rtlCol="0" anchor="t">
            <a:spAutoFit/>
          </a:bodyPr>
          <a:lstStyle/>
          <a:p>
            <a:pPr algn="l">
              <a:lnSpc>
                <a:spcPts val="6709"/>
              </a:lnSpc>
            </a:pPr>
            <a:r>
              <a:rPr lang="en-US" sz="2683">
                <a:solidFill>
                  <a:srgbClr val="290606"/>
                </a:solidFill>
                <a:latin typeface="Telegraf"/>
                <a:ea typeface="Telegraf"/>
                <a:cs typeface="Telegraf"/>
                <a:sym typeface="Telegraf"/>
              </a:rPr>
              <a:t> </a:t>
            </a:r>
          </a:p>
        </p:txBody>
      </p:sp>
      <p:sp>
        <p:nvSpPr>
          <p:cNvPr id="5" name="TextBox 5"/>
          <p:cNvSpPr txBox="1"/>
          <p:nvPr/>
        </p:nvSpPr>
        <p:spPr>
          <a:xfrm>
            <a:off x="4283254" y="2324100"/>
            <a:ext cx="12976046" cy="7321808"/>
          </a:xfrm>
          <a:prstGeom prst="rect">
            <a:avLst/>
          </a:prstGeom>
        </p:spPr>
        <p:txBody>
          <a:bodyPr lIns="0" tIns="0" rIns="0" bIns="0" rtlCol="0" anchor="t">
            <a:spAutoFit/>
          </a:bodyPr>
          <a:lstStyle/>
          <a:p>
            <a:pPr algn="l">
              <a:lnSpc>
                <a:spcPts val="4106"/>
              </a:lnSpc>
              <a:spcBef>
                <a:spcPct val="0"/>
              </a:spcBef>
            </a:pPr>
            <a:r>
              <a:rPr lang="en-US" sz="2933">
                <a:solidFill>
                  <a:srgbClr val="000000"/>
                </a:solidFill>
                <a:latin typeface="Telegraf"/>
                <a:ea typeface="Telegraf"/>
                <a:cs typeface="Telegraf"/>
                <a:sym typeface="Telegraf"/>
              </a:rPr>
              <a:t>We sincerely thank Intel Corporation for providing us the opportunity to participate in the Intel® Unnati Industrial Training Program 2025, which offered valuable exposure to real-world industry problems and emerging technologies.</a:t>
            </a:r>
          </a:p>
          <a:p>
            <a:pPr algn="l">
              <a:lnSpc>
                <a:spcPts val="4106"/>
              </a:lnSpc>
              <a:spcBef>
                <a:spcPct val="0"/>
              </a:spcBef>
            </a:pPr>
            <a:r>
              <a:rPr lang="en-US" sz="2933">
                <a:solidFill>
                  <a:srgbClr val="000000"/>
                </a:solidFill>
                <a:latin typeface="Telegraf"/>
                <a:ea typeface="Telegraf"/>
                <a:cs typeface="Telegraf"/>
                <a:sym typeface="Telegraf"/>
              </a:rPr>
              <a:t> We are grateful to the Management and Faculty of MCKV Institute of Engineering for their continuous support and facilitation throughout the program.</a:t>
            </a:r>
          </a:p>
          <a:p>
            <a:pPr algn="l">
              <a:lnSpc>
                <a:spcPts val="4106"/>
              </a:lnSpc>
              <a:spcBef>
                <a:spcPct val="0"/>
              </a:spcBef>
            </a:pPr>
            <a:r>
              <a:rPr lang="en-US" sz="2933">
                <a:solidFill>
                  <a:srgbClr val="000000"/>
                </a:solidFill>
                <a:latin typeface="Telegraf"/>
                <a:ea typeface="Telegraf"/>
                <a:cs typeface="Telegraf"/>
                <a:sym typeface="Telegraf"/>
              </a:rPr>
              <a:t> We extend our special thanks to Dr. Deep Suman Dev, Assistant Professor, CSE, for his coordination, guidance, and supervision during the training period.</a:t>
            </a:r>
          </a:p>
          <a:p>
            <a:pPr algn="l">
              <a:lnSpc>
                <a:spcPts val="4106"/>
              </a:lnSpc>
              <a:spcBef>
                <a:spcPct val="0"/>
              </a:spcBef>
            </a:pPr>
            <a:r>
              <a:rPr lang="en-US" sz="2933">
                <a:solidFill>
                  <a:srgbClr val="000000"/>
                </a:solidFill>
                <a:latin typeface="Telegraf"/>
                <a:ea typeface="Telegraf"/>
                <a:cs typeface="Telegraf"/>
                <a:sym typeface="Telegraf"/>
              </a:rPr>
              <a:t> We are also deeply thankful to our project mentor, Professor Puspen Lahiri, for his valuable guidance, insights, and constant encouragement.</a:t>
            </a:r>
          </a:p>
          <a:p>
            <a:pPr algn="l">
              <a:lnSpc>
                <a:spcPts val="4106"/>
              </a:lnSpc>
              <a:spcBef>
                <a:spcPct val="0"/>
              </a:spcBef>
            </a:pPr>
            <a:r>
              <a:rPr lang="en-US" sz="2933">
                <a:solidFill>
                  <a:srgbClr val="000000"/>
                </a:solidFill>
                <a:latin typeface="Telegraf"/>
                <a:ea typeface="Telegraf"/>
                <a:cs typeface="Telegraf"/>
                <a:sym typeface="Telegraf"/>
              </a:rPr>
              <a:t> Lastly, we appreciate the support of Intel trainers, faculty members, and our team for their dedication and collaboration.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EF4F3"/>
        </a:solidFill>
        <a:effectLst/>
      </p:bgPr>
    </p:bg>
    <p:spTree>
      <p:nvGrpSpPr>
        <p:cNvPr id="1" name=""/>
        <p:cNvGrpSpPr/>
        <p:nvPr/>
      </p:nvGrpSpPr>
      <p:grpSpPr>
        <a:xfrm>
          <a:off x="0" y="0"/>
          <a:ext cx="0" cy="0"/>
          <a:chOff x="0" y="0"/>
          <a:chExt cx="0" cy="0"/>
        </a:xfrm>
      </p:grpSpPr>
      <p:sp>
        <p:nvSpPr>
          <p:cNvPr id="2" name="TextBox 2"/>
          <p:cNvSpPr txBox="1"/>
          <p:nvPr/>
        </p:nvSpPr>
        <p:spPr>
          <a:xfrm>
            <a:off x="3803486" y="4602807"/>
            <a:ext cx="11741314" cy="1399935"/>
          </a:xfrm>
          <a:prstGeom prst="rect">
            <a:avLst/>
          </a:prstGeom>
        </p:spPr>
        <p:txBody>
          <a:bodyPr wrap="square" lIns="0" tIns="0" rIns="0" bIns="0" rtlCol="0" anchor="t">
            <a:spAutoFit/>
          </a:bodyPr>
          <a:lstStyle/>
          <a:p>
            <a:pPr algn="l">
              <a:lnSpc>
                <a:spcPts val="9479"/>
              </a:lnSpc>
            </a:pPr>
            <a:r>
              <a:rPr lang="en-US" sz="18958" spc="928" dirty="0">
                <a:solidFill>
                  <a:srgbClr val="000000"/>
                </a:solidFill>
                <a:latin typeface="Cheddar"/>
                <a:ea typeface="Cheddar"/>
                <a:cs typeface="Cheddar"/>
                <a:sym typeface="Cheddar"/>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599</Words>
  <Application>Microsoft Office PowerPoint</Application>
  <PresentationFormat>Custom</PresentationFormat>
  <Paragraphs>51</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Telegraf</vt:lpstr>
      <vt:lpstr>Cheddar</vt:lpstr>
      <vt:lpstr>Calibri</vt:lpstr>
      <vt:lpstr>Arial</vt:lpstr>
      <vt:lpstr>Telegraf Bold</vt:lpstr>
      <vt:lpstr>Canva Sans Bold</vt:lpstr>
      <vt:lpstr>Telegraf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AI-Powered Form filling Assistant for indian citizens.pdf</dc:title>
  <cp:lastModifiedBy>Sandipan Rakshit</cp:lastModifiedBy>
  <cp:revision>2</cp:revision>
  <dcterms:created xsi:type="dcterms:W3CDTF">2006-08-16T00:00:00Z</dcterms:created>
  <dcterms:modified xsi:type="dcterms:W3CDTF">2025-12-24T14:51:54Z</dcterms:modified>
  <dc:identifier>DAG8akoWnys</dc:identifier>
</cp:coreProperties>
</file>