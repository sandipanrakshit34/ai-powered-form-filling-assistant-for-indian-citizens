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8288000" cy="10287000"/>
  <p:notesSz cx="6858000" cy="9144000"/>
  <p:embeddedFontLst>
    <p:embeddedFont>
      <p:font typeface="Canva Sans Bold" panose="020B0604020202020204" charset="0"/>
      <p:regular r:id="rId18"/>
    </p:embeddedFont>
    <p:embeddedFont>
      <p:font typeface="Cheddar" panose="020B0604020202020204" charset="0"/>
      <p:regular r:id="rId19"/>
    </p:embeddedFont>
    <p:embeddedFont>
      <p:font typeface="Telegraf" panose="020B0604020202020204" charset="0"/>
      <p:regular r:id="rId20"/>
    </p:embeddedFont>
    <p:embeddedFont>
      <p:font typeface="Telegraf Bold" panose="020B0604020202020204" charset="0"/>
      <p:regular r:id="rId21"/>
    </p:embeddedFont>
    <p:embeddedFont>
      <p:font typeface="Telegraf Medium" panose="020B0604020202020204" charset="0"/>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12/25/2025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jpe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7.xml"/><Relationship Id="rId5" Type="http://schemas.openxmlformats.org/officeDocument/2006/relationships/image" Target="../media/image12.sv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20.svg"/><Relationship Id="rId2" Type="http://schemas.openxmlformats.org/officeDocument/2006/relationships/image" Target="../media/image15.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sv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eg"/><Relationship Id="rId1" Type="http://schemas.openxmlformats.org/officeDocument/2006/relationships/slideLayout" Target="../slideLayouts/slideLayout7.xml"/><Relationship Id="rId4" Type="http://schemas.openxmlformats.org/officeDocument/2006/relationships/image" Target="../media/image23.svg"/></Relationships>
</file>

<file path=ppt/slides/_rels/slide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31.svg"/><Relationship Id="rId13" Type="http://schemas.openxmlformats.org/officeDocument/2006/relationships/image" Target="../media/image36.svg"/><Relationship Id="rId3" Type="http://schemas.openxmlformats.org/officeDocument/2006/relationships/image" Target="../media/image26.png"/><Relationship Id="rId7" Type="http://schemas.openxmlformats.org/officeDocument/2006/relationships/image" Target="../media/image30.png"/><Relationship Id="rId12" Type="http://schemas.openxmlformats.org/officeDocument/2006/relationships/image" Target="../media/image35.svg"/><Relationship Id="rId2" Type="http://schemas.openxmlformats.org/officeDocument/2006/relationships/image" Target="../media/image25.png"/><Relationship Id="rId1" Type="http://schemas.openxmlformats.org/officeDocument/2006/relationships/slideLayout" Target="../slideLayouts/slideLayout7.xml"/><Relationship Id="rId6" Type="http://schemas.openxmlformats.org/officeDocument/2006/relationships/image" Target="../media/image29.svg"/><Relationship Id="rId11" Type="http://schemas.openxmlformats.org/officeDocument/2006/relationships/image" Target="../media/image34.png"/><Relationship Id="rId5" Type="http://schemas.openxmlformats.org/officeDocument/2006/relationships/image" Target="../media/image28.png"/><Relationship Id="rId10" Type="http://schemas.openxmlformats.org/officeDocument/2006/relationships/image" Target="../media/image33.svg"/><Relationship Id="rId4" Type="http://schemas.openxmlformats.org/officeDocument/2006/relationships/image" Target="../media/image27.svg"/><Relationship Id="rId9" Type="http://schemas.openxmlformats.org/officeDocument/2006/relationships/image" Target="../media/image32.png"/><Relationship Id="rId14" Type="http://schemas.openxmlformats.org/officeDocument/2006/relationships/image" Target="../media/image37.png"/></Relationships>
</file>

<file path=ppt/slides/_rels/slide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jpeg"/><Relationship Id="rId1" Type="http://schemas.openxmlformats.org/officeDocument/2006/relationships/slideLayout" Target="../slideLayouts/slideLayout7.xml"/><Relationship Id="rId4" Type="http://schemas.openxmlformats.org/officeDocument/2006/relationships/image" Target="../media/image44.svg"/></Relationships>
</file>

<file path=ppt/slides/_rels/slide13.xml.rels><?xml version="1.0" encoding="UTF-8" standalone="yes"?>
<Relationships xmlns="http://schemas.openxmlformats.org/package/2006/relationships"><Relationship Id="rId3" Type="http://schemas.openxmlformats.org/officeDocument/2006/relationships/image" Target="../media/image45.svg"/><Relationship Id="rId7" Type="http://schemas.openxmlformats.org/officeDocument/2006/relationships/image" Target="../media/image49.svg"/><Relationship Id="rId2"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48.png"/><Relationship Id="rId5" Type="http://schemas.openxmlformats.org/officeDocument/2006/relationships/image" Target="../media/image47.svg"/><Relationship Id="rId4" Type="http://schemas.openxmlformats.org/officeDocument/2006/relationships/image" Target="../media/image46.png"/></Relationships>
</file>

<file path=ppt/slides/_rels/slide14.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2497374" y="5674223"/>
            <a:ext cx="2699245" cy="3496392"/>
          </a:xfrm>
          <a:custGeom>
            <a:avLst/>
            <a:gdLst/>
            <a:ahLst/>
            <a:cxnLst/>
            <a:rect l="l" t="t" r="r" b="b"/>
            <a:pathLst>
              <a:path w="2699245" h="3496392">
                <a:moveTo>
                  <a:pt x="0" y="0"/>
                </a:moveTo>
                <a:lnTo>
                  <a:pt x="2699244" y="0"/>
                </a:lnTo>
                <a:lnTo>
                  <a:pt x="2699244" y="3496393"/>
                </a:lnTo>
                <a:lnTo>
                  <a:pt x="0" y="349639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4464522" y="7974482"/>
            <a:ext cx="3619348" cy="1897780"/>
          </a:xfrm>
          <a:custGeom>
            <a:avLst/>
            <a:gdLst/>
            <a:ahLst/>
            <a:cxnLst/>
            <a:rect l="l" t="t" r="r" b="b"/>
            <a:pathLst>
              <a:path w="3619348" h="1897780">
                <a:moveTo>
                  <a:pt x="0" y="0"/>
                </a:moveTo>
                <a:lnTo>
                  <a:pt x="3619348" y="0"/>
                </a:lnTo>
                <a:lnTo>
                  <a:pt x="3619348" y="1897780"/>
                </a:lnTo>
                <a:lnTo>
                  <a:pt x="0" y="189778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398708" y="324852"/>
            <a:ext cx="1800225" cy="1800225"/>
          </a:xfrm>
          <a:custGeom>
            <a:avLst/>
            <a:gdLst/>
            <a:ahLst/>
            <a:cxnLst/>
            <a:rect l="l" t="t" r="r" b="b"/>
            <a:pathLst>
              <a:path w="1800225" h="1800225">
                <a:moveTo>
                  <a:pt x="0" y="0"/>
                </a:moveTo>
                <a:lnTo>
                  <a:pt x="1800225" y="0"/>
                </a:lnTo>
                <a:lnTo>
                  <a:pt x="1800225" y="1800225"/>
                </a:lnTo>
                <a:lnTo>
                  <a:pt x="0" y="1800225"/>
                </a:lnTo>
                <a:lnTo>
                  <a:pt x="0" y="0"/>
                </a:lnTo>
                <a:close/>
              </a:path>
            </a:pathLst>
          </a:custGeom>
          <a:blipFill>
            <a:blip r:embed="rId6"/>
            <a:stretch>
              <a:fillRect/>
            </a:stretch>
          </a:blipFill>
        </p:spPr>
      </p:sp>
      <p:grpSp>
        <p:nvGrpSpPr>
          <p:cNvPr id="5" name="Group 5"/>
          <p:cNvGrpSpPr>
            <a:grpSpLocks noChangeAspect="1"/>
          </p:cNvGrpSpPr>
          <p:nvPr/>
        </p:nvGrpSpPr>
        <p:grpSpPr>
          <a:xfrm>
            <a:off x="14526139" y="8031899"/>
            <a:ext cx="3496199" cy="1783061"/>
            <a:chOff x="0" y="0"/>
            <a:chExt cx="3496196" cy="1783067"/>
          </a:xfrm>
        </p:grpSpPr>
        <p:sp>
          <p:nvSpPr>
            <p:cNvPr id="6" name="Freeform 6"/>
            <p:cNvSpPr/>
            <p:nvPr/>
          </p:nvSpPr>
          <p:spPr>
            <a:xfrm>
              <a:off x="0" y="0"/>
              <a:ext cx="3496183" cy="1783080"/>
            </a:xfrm>
            <a:custGeom>
              <a:avLst/>
              <a:gdLst/>
              <a:ahLst/>
              <a:cxnLst/>
              <a:rect l="l" t="t" r="r" b="b"/>
              <a:pathLst>
                <a:path w="3496183" h="1783080">
                  <a:moveTo>
                    <a:pt x="0" y="1783080"/>
                  </a:moveTo>
                  <a:lnTo>
                    <a:pt x="3496183" y="1783080"/>
                  </a:lnTo>
                  <a:lnTo>
                    <a:pt x="3496183" y="0"/>
                  </a:lnTo>
                  <a:lnTo>
                    <a:pt x="0" y="0"/>
                  </a:lnTo>
                  <a:close/>
                </a:path>
              </a:pathLst>
            </a:custGeom>
            <a:solidFill>
              <a:srgbClr val="000000">
                <a:alpha val="0"/>
              </a:srgbClr>
            </a:solidFill>
          </p:spPr>
        </p:sp>
      </p:grpSp>
      <p:sp>
        <p:nvSpPr>
          <p:cNvPr id="7" name="Freeform 7"/>
          <p:cNvSpPr/>
          <p:nvPr/>
        </p:nvSpPr>
        <p:spPr>
          <a:xfrm>
            <a:off x="1094813" y="2919174"/>
            <a:ext cx="5282317" cy="1302038"/>
          </a:xfrm>
          <a:custGeom>
            <a:avLst/>
            <a:gdLst/>
            <a:ahLst/>
            <a:cxnLst/>
            <a:rect l="l" t="t" r="r" b="b"/>
            <a:pathLst>
              <a:path w="5282317" h="1302038">
                <a:moveTo>
                  <a:pt x="0" y="0"/>
                </a:moveTo>
                <a:lnTo>
                  <a:pt x="5282317" y="0"/>
                </a:lnTo>
                <a:lnTo>
                  <a:pt x="5282317" y="1302038"/>
                </a:lnTo>
                <a:lnTo>
                  <a:pt x="0" y="1302038"/>
                </a:lnTo>
                <a:lnTo>
                  <a:pt x="0" y="0"/>
                </a:lnTo>
                <a:close/>
              </a:path>
            </a:pathLst>
          </a:custGeom>
          <a:blipFill>
            <a:blip r:embed="rId7"/>
            <a:stretch>
              <a:fillRect/>
            </a:stretch>
          </a:blipFill>
        </p:spPr>
      </p:sp>
      <p:sp>
        <p:nvSpPr>
          <p:cNvPr id="8" name="TextBox 8"/>
          <p:cNvSpPr txBox="1"/>
          <p:nvPr/>
        </p:nvSpPr>
        <p:spPr>
          <a:xfrm>
            <a:off x="8884865" y="5295900"/>
            <a:ext cx="2992041" cy="857374"/>
          </a:xfrm>
          <a:prstGeom prst="rect">
            <a:avLst/>
          </a:prstGeom>
        </p:spPr>
        <p:txBody>
          <a:bodyPr lIns="0" tIns="0" rIns="0" bIns="0" rtlCol="0" anchor="t">
            <a:spAutoFit/>
          </a:bodyPr>
          <a:lstStyle/>
          <a:p>
            <a:pPr algn="l">
              <a:lnSpc>
                <a:spcPts val="7498"/>
              </a:lnSpc>
            </a:pPr>
            <a:r>
              <a:rPr lang="en-US" sz="2999" b="1" dirty="0">
                <a:solidFill>
                  <a:srgbClr val="000000"/>
                </a:solidFill>
                <a:latin typeface="Telegraf Bold"/>
                <a:ea typeface="Telegraf Bold"/>
                <a:cs typeface="Telegraf Bold"/>
                <a:sym typeface="Telegraf Bold"/>
              </a:rPr>
              <a:t>PRESENTED BY:</a:t>
            </a:r>
          </a:p>
        </p:txBody>
      </p:sp>
      <p:sp>
        <p:nvSpPr>
          <p:cNvPr id="9" name="TextBox 9"/>
          <p:cNvSpPr txBox="1"/>
          <p:nvPr/>
        </p:nvSpPr>
        <p:spPr>
          <a:xfrm>
            <a:off x="8735397" y="6168425"/>
            <a:ext cx="5818803" cy="1651658"/>
          </a:xfrm>
          <a:prstGeom prst="rect">
            <a:avLst/>
          </a:prstGeom>
        </p:spPr>
        <p:txBody>
          <a:bodyPr wrap="square" lIns="0" tIns="0" rIns="0" bIns="0" rtlCol="0" anchor="t">
            <a:spAutoFit/>
          </a:bodyPr>
          <a:lstStyle/>
          <a:p>
            <a:pPr marL="647538" lvl="1" indent="-323769" algn="l">
              <a:lnSpc>
                <a:spcPts val="4318"/>
              </a:lnSpc>
              <a:buFont typeface="Arial"/>
              <a:buChar char="•"/>
            </a:pPr>
            <a:r>
              <a:rPr lang="en-US" sz="2999" b="1" dirty="0">
                <a:solidFill>
                  <a:srgbClr val="000000"/>
                </a:solidFill>
                <a:latin typeface="Telegraf Bold"/>
                <a:ea typeface="Telegraf Bold"/>
                <a:cs typeface="Telegraf Bold"/>
                <a:sym typeface="Telegraf Bold"/>
              </a:rPr>
              <a:t>SANDIPAN RAKSHIT</a:t>
            </a:r>
          </a:p>
          <a:p>
            <a:pPr marL="647538" lvl="1" indent="-323769" algn="l">
              <a:lnSpc>
                <a:spcPts val="4318"/>
              </a:lnSpc>
              <a:buFont typeface="Arial"/>
              <a:buChar char="•"/>
            </a:pPr>
            <a:r>
              <a:rPr lang="en-US" sz="2999" b="1" dirty="0">
                <a:solidFill>
                  <a:srgbClr val="000000"/>
                </a:solidFill>
                <a:latin typeface="Telegraf Bold"/>
                <a:ea typeface="Telegraf Bold"/>
                <a:cs typeface="Telegraf Bold"/>
                <a:sym typeface="Telegraf Bold"/>
              </a:rPr>
              <a:t>CHINMOY DAS</a:t>
            </a:r>
          </a:p>
          <a:p>
            <a:pPr marL="647538" lvl="1" indent="-323769" algn="l">
              <a:lnSpc>
                <a:spcPts val="4318"/>
              </a:lnSpc>
              <a:buFont typeface="Arial"/>
              <a:buChar char="•"/>
            </a:pPr>
            <a:r>
              <a:rPr lang="en-US" sz="2999" b="1" dirty="0">
                <a:solidFill>
                  <a:srgbClr val="000000"/>
                </a:solidFill>
                <a:latin typeface="Telegraf Bold"/>
                <a:ea typeface="Telegraf Bold"/>
                <a:cs typeface="Telegraf Bold"/>
                <a:sym typeface="Telegraf Bold"/>
              </a:rPr>
              <a:t>SOURANGSHU KUNDU</a:t>
            </a:r>
          </a:p>
        </p:txBody>
      </p:sp>
      <p:sp>
        <p:nvSpPr>
          <p:cNvPr id="10" name="TextBox 10"/>
          <p:cNvSpPr txBox="1"/>
          <p:nvPr/>
        </p:nvSpPr>
        <p:spPr>
          <a:xfrm>
            <a:off x="8092288" y="2032530"/>
            <a:ext cx="8922382" cy="3641693"/>
          </a:xfrm>
          <a:prstGeom prst="rect">
            <a:avLst/>
          </a:prstGeom>
        </p:spPr>
        <p:txBody>
          <a:bodyPr lIns="0" tIns="0" rIns="0" bIns="0" rtlCol="0" anchor="t">
            <a:spAutoFit/>
          </a:bodyPr>
          <a:lstStyle/>
          <a:p>
            <a:pPr algn="l">
              <a:lnSpc>
                <a:spcPts val="8929"/>
              </a:lnSpc>
            </a:pPr>
            <a:r>
              <a:rPr lang="en-US" sz="9999">
                <a:solidFill>
                  <a:srgbClr val="290606"/>
                </a:solidFill>
                <a:latin typeface="Cheddar"/>
                <a:ea typeface="Cheddar"/>
                <a:cs typeface="Cheddar"/>
                <a:sym typeface="Cheddar"/>
              </a:rPr>
              <a:t>AI-POWERED FORM FILLING ASSISTANT FOR INDIAN CITIZENS</a:t>
            </a:r>
          </a:p>
        </p:txBody>
      </p:sp>
      <p:sp>
        <p:nvSpPr>
          <p:cNvPr id="11" name="TextBox 11"/>
          <p:cNvSpPr txBox="1"/>
          <p:nvPr/>
        </p:nvSpPr>
        <p:spPr>
          <a:xfrm>
            <a:off x="2377195" y="566604"/>
            <a:ext cx="6937267" cy="847992"/>
          </a:xfrm>
          <a:prstGeom prst="rect">
            <a:avLst/>
          </a:prstGeom>
        </p:spPr>
        <p:txBody>
          <a:bodyPr lIns="0" tIns="0" rIns="0" bIns="0" rtlCol="0" anchor="t">
            <a:spAutoFit/>
          </a:bodyPr>
          <a:lstStyle/>
          <a:p>
            <a:pPr algn="l">
              <a:lnSpc>
                <a:spcPts val="3347"/>
              </a:lnSpc>
            </a:pPr>
            <a:r>
              <a:rPr lang="en-US" sz="2394">
                <a:solidFill>
                  <a:srgbClr val="290606"/>
                </a:solidFill>
                <a:latin typeface="Telegraf"/>
                <a:ea typeface="Telegraf"/>
                <a:cs typeface="Telegraf"/>
                <a:sym typeface="Telegraf"/>
              </a:rPr>
              <a:t>Department of Computer Science &amp; Engineering  MCKV Institute of Engineering </a:t>
            </a:r>
          </a:p>
        </p:txBody>
      </p:sp>
      <p:sp>
        <p:nvSpPr>
          <p:cNvPr id="12" name="TextBox 12"/>
          <p:cNvSpPr txBox="1"/>
          <p:nvPr/>
        </p:nvSpPr>
        <p:spPr>
          <a:xfrm>
            <a:off x="398708" y="4427454"/>
            <a:ext cx="6896576" cy="561975"/>
          </a:xfrm>
          <a:prstGeom prst="rect">
            <a:avLst/>
          </a:prstGeom>
        </p:spPr>
        <p:txBody>
          <a:bodyPr lIns="0" tIns="0" rIns="0" bIns="0" rtlCol="0" anchor="t">
            <a:spAutoFit/>
          </a:bodyPr>
          <a:lstStyle/>
          <a:p>
            <a:pPr algn="ctr">
              <a:lnSpc>
                <a:spcPts val="4200"/>
              </a:lnSpc>
              <a:spcBef>
                <a:spcPct val="0"/>
              </a:spcBef>
            </a:pPr>
            <a:r>
              <a:rPr lang="en-US" sz="3000" b="1">
                <a:solidFill>
                  <a:srgbClr val="000000"/>
                </a:solidFill>
                <a:latin typeface="Telegraf Bold"/>
                <a:ea typeface="Telegraf Bold"/>
                <a:cs typeface="Telegraf Bold"/>
                <a:sym typeface="Telegraf Bold"/>
              </a:rPr>
              <a:t>Intel Unnati Industrial Training 2025</a:t>
            </a:r>
          </a:p>
        </p:txBody>
      </p:sp>
      <p:sp>
        <p:nvSpPr>
          <p:cNvPr id="16" name="TextBox 15">
            <a:extLst>
              <a:ext uri="{FF2B5EF4-FFF2-40B4-BE49-F238E27FC236}">
                <a16:creationId xmlns:a16="http://schemas.microsoft.com/office/drawing/2014/main" id="{1EABF766-30CA-5CD6-FA19-3394C7396165}"/>
              </a:ext>
            </a:extLst>
          </p:cNvPr>
          <p:cNvSpPr txBox="1"/>
          <p:nvPr/>
        </p:nvSpPr>
        <p:spPr>
          <a:xfrm>
            <a:off x="8763000" y="8033044"/>
            <a:ext cx="9144000" cy="1405769"/>
          </a:xfrm>
          <a:prstGeom prst="rect">
            <a:avLst/>
          </a:prstGeom>
          <a:noFill/>
        </p:spPr>
        <p:txBody>
          <a:bodyPr wrap="square">
            <a:spAutoFit/>
          </a:bodyPr>
          <a:lstStyle/>
          <a:p>
            <a:pPr>
              <a:lnSpc>
                <a:spcPct val="150000"/>
              </a:lnSpc>
              <a:buNone/>
            </a:pPr>
            <a:r>
              <a:rPr lang="en-US" sz="3000" b="1" i="0" dirty="0">
                <a:effectLst/>
                <a:latin typeface="Telegraf Bold" panose="020B0604020202020204" charset="0"/>
              </a:rPr>
              <a:t>UNDER THE SUPERVISION OF</a:t>
            </a:r>
            <a:endParaRPr lang="en-US" sz="3000" dirty="0">
              <a:effectLst/>
              <a:latin typeface="Telegraf Bold" panose="020B0604020202020204" charset="0"/>
            </a:endParaRPr>
          </a:p>
          <a:p>
            <a:pPr marL="457200" indent="-457200">
              <a:lnSpc>
                <a:spcPct val="150000"/>
              </a:lnSpc>
              <a:buFont typeface="Arial" panose="020B0604020202020204" pitchFamily="34" charset="0"/>
              <a:buChar char="•"/>
            </a:pPr>
            <a:r>
              <a:rPr lang="en-US" sz="3000" b="1" i="0" dirty="0">
                <a:effectLst/>
                <a:latin typeface="Telegraf Bold" panose="020B0604020202020204" charset="0"/>
              </a:rPr>
              <a:t>PROF. PUSPEN LAHIRI</a:t>
            </a:r>
            <a:endParaRPr lang="en-US" sz="3000" dirty="0">
              <a:effectLst/>
              <a:latin typeface="Telegraf Bold" panose="020B06040202020202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1477327" y="2215258"/>
            <a:ext cx="6106763" cy="5443557"/>
          </a:xfrm>
          <a:custGeom>
            <a:avLst/>
            <a:gdLst/>
            <a:ahLst/>
            <a:cxnLst/>
            <a:rect l="l" t="t" r="r" b="b"/>
            <a:pathLst>
              <a:path w="6106763" h="5443557">
                <a:moveTo>
                  <a:pt x="0" y="0"/>
                </a:moveTo>
                <a:lnTo>
                  <a:pt x="6106764" y="0"/>
                </a:lnTo>
                <a:lnTo>
                  <a:pt x="6106764" y="5443556"/>
                </a:lnTo>
                <a:lnTo>
                  <a:pt x="0" y="544355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 name="Group 3"/>
          <p:cNvGrpSpPr>
            <a:grpSpLocks noChangeAspect="1"/>
          </p:cNvGrpSpPr>
          <p:nvPr/>
        </p:nvGrpSpPr>
        <p:grpSpPr>
          <a:xfrm>
            <a:off x="10184397" y="2449278"/>
            <a:ext cx="87525" cy="87525"/>
            <a:chOff x="0" y="0"/>
            <a:chExt cx="87528" cy="87528"/>
          </a:xfrm>
        </p:grpSpPr>
        <p:sp>
          <p:nvSpPr>
            <p:cNvPr id="4" name="Freeform 4"/>
            <p:cNvSpPr/>
            <p:nvPr/>
          </p:nvSpPr>
          <p:spPr>
            <a:xfrm>
              <a:off x="0" y="0"/>
              <a:ext cx="87630" cy="87630"/>
            </a:xfrm>
            <a:custGeom>
              <a:avLst/>
              <a:gdLst/>
              <a:ahLst/>
              <a:cxnLst/>
              <a:rect l="l" t="t" r="r" b="b"/>
              <a:pathLst>
                <a:path w="87630" h="87630">
                  <a:moveTo>
                    <a:pt x="87503" y="43815"/>
                  </a:moveTo>
                  <a:cubicBezTo>
                    <a:pt x="87503" y="49657"/>
                    <a:pt x="86360" y="55245"/>
                    <a:pt x="84201" y="60579"/>
                  </a:cubicBezTo>
                  <a:cubicBezTo>
                    <a:pt x="82042" y="65913"/>
                    <a:pt x="78867" y="70612"/>
                    <a:pt x="74676" y="74803"/>
                  </a:cubicBezTo>
                  <a:cubicBezTo>
                    <a:pt x="70485" y="78994"/>
                    <a:pt x="65786" y="82042"/>
                    <a:pt x="60452" y="84328"/>
                  </a:cubicBezTo>
                  <a:cubicBezTo>
                    <a:pt x="55118" y="86614"/>
                    <a:pt x="49530" y="87630"/>
                    <a:pt x="43688" y="87630"/>
                  </a:cubicBezTo>
                  <a:cubicBezTo>
                    <a:pt x="37846" y="87630"/>
                    <a:pt x="32258" y="86487"/>
                    <a:pt x="26924" y="84328"/>
                  </a:cubicBezTo>
                  <a:cubicBezTo>
                    <a:pt x="21590" y="82169"/>
                    <a:pt x="16891" y="78994"/>
                    <a:pt x="12700" y="74803"/>
                  </a:cubicBezTo>
                  <a:cubicBezTo>
                    <a:pt x="8509" y="70612"/>
                    <a:pt x="5461" y="65913"/>
                    <a:pt x="3175" y="60579"/>
                  </a:cubicBezTo>
                  <a:cubicBezTo>
                    <a:pt x="889" y="55245"/>
                    <a:pt x="0" y="49530"/>
                    <a:pt x="0" y="43815"/>
                  </a:cubicBezTo>
                  <a:cubicBezTo>
                    <a:pt x="0" y="38100"/>
                    <a:pt x="1143" y="32385"/>
                    <a:pt x="3302" y="27051"/>
                  </a:cubicBezTo>
                  <a:cubicBezTo>
                    <a:pt x="5461" y="21717"/>
                    <a:pt x="8636" y="17018"/>
                    <a:pt x="12827" y="12827"/>
                  </a:cubicBezTo>
                  <a:cubicBezTo>
                    <a:pt x="17018" y="8636"/>
                    <a:pt x="21717" y="5588"/>
                    <a:pt x="27051" y="3302"/>
                  </a:cubicBezTo>
                  <a:cubicBezTo>
                    <a:pt x="32385" y="1016"/>
                    <a:pt x="37973" y="0"/>
                    <a:pt x="43815" y="0"/>
                  </a:cubicBezTo>
                  <a:cubicBezTo>
                    <a:pt x="49657" y="0"/>
                    <a:pt x="55245" y="1143"/>
                    <a:pt x="60579" y="3302"/>
                  </a:cubicBezTo>
                  <a:cubicBezTo>
                    <a:pt x="65913" y="5461"/>
                    <a:pt x="70612" y="8636"/>
                    <a:pt x="74803" y="12827"/>
                  </a:cubicBezTo>
                  <a:cubicBezTo>
                    <a:pt x="78994" y="17018"/>
                    <a:pt x="82042" y="21717"/>
                    <a:pt x="84328" y="27051"/>
                  </a:cubicBezTo>
                  <a:cubicBezTo>
                    <a:pt x="86614" y="32385"/>
                    <a:pt x="87630" y="37973"/>
                    <a:pt x="87630" y="43815"/>
                  </a:cubicBezTo>
                  <a:close/>
                </a:path>
              </a:pathLst>
            </a:custGeom>
            <a:solidFill>
              <a:srgbClr val="290606"/>
            </a:solidFill>
          </p:spPr>
        </p:sp>
      </p:grpSp>
      <p:grpSp>
        <p:nvGrpSpPr>
          <p:cNvPr id="5" name="Group 5"/>
          <p:cNvGrpSpPr>
            <a:grpSpLocks noChangeAspect="1"/>
          </p:cNvGrpSpPr>
          <p:nvPr/>
        </p:nvGrpSpPr>
        <p:grpSpPr>
          <a:xfrm>
            <a:off x="10184397" y="3023073"/>
            <a:ext cx="87525" cy="87525"/>
            <a:chOff x="0" y="0"/>
            <a:chExt cx="87528" cy="87528"/>
          </a:xfrm>
        </p:grpSpPr>
        <p:sp>
          <p:nvSpPr>
            <p:cNvPr id="6" name="Freeform 6"/>
            <p:cNvSpPr/>
            <p:nvPr/>
          </p:nvSpPr>
          <p:spPr>
            <a:xfrm>
              <a:off x="0" y="0"/>
              <a:ext cx="87630" cy="87630"/>
            </a:xfrm>
            <a:custGeom>
              <a:avLst/>
              <a:gdLst/>
              <a:ahLst/>
              <a:cxnLst/>
              <a:rect l="l" t="t" r="r" b="b"/>
              <a:pathLst>
                <a:path w="87630" h="87630">
                  <a:moveTo>
                    <a:pt x="87503" y="43815"/>
                  </a:moveTo>
                  <a:cubicBezTo>
                    <a:pt x="87503" y="49657"/>
                    <a:pt x="86360" y="55245"/>
                    <a:pt x="84201" y="60579"/>
                  </a:cubicBezTo>
                  <a:cubicBezTo>
                    <a:pt x="82042" y="65913"/>
                    <a:pt x="78867" y="70612"/>
                    <a:pt x="74676" y="74803"/>
                  </a:cubicBezTo>
                  <a:cubicBezTo>
                    <a:pt x="70485" y="78994"/>
                    <a:pt x="65786" y="82042"/>
                    <a:pt x="60452" y="84328"/>
                  </a:cubicBezTo>
                  <a:cubicBezTo>
                    <a:pt x="55118" y="86614"/>
                    <a:pt x="49530" y="87630"/>
                    <a:pt x="43688" y="87630"/>
                  </a:cubicBezTo>
                  <a:cubicBezTo>
                    <a:pt x="37846" y="87630"/>
                    <a:pt x="32258" y="86487"/>
                    <a:pt x="26924" y="84328"/>
                  </a:cubicBezTo>
                  <a:cubicBezTo>
                    <a:pt x="21590" y="82169"/>
                    <a:pt x="16891" y="78994"/>
                    <a:pt x="12700" y="74803"/>
                  </a:cubicBezTo>
                  <a:cubicBezTo>
                    <a:pt x="8509" y="70612"/>
                    <a:pt x="5461" y="65913"/>
                    <a:pt x="3175" y="60579"/>
                  </a:cubicBezTo>
                  <a:cubicBezTo>
                    <a:pt x="889" y="55245"/>
                    <a:pt x="0" y="49530"/>
                    <a:pt x="0" y="43815"/>
                  </a:cubicBezTo>
                  <a:cubicBezTo>
                    <a:pt x="0" y="38100"/>
                    <a:pt x="1143" y="32385"/>
                    <a:pt x="3302" y="27051"/>
                  </a:cubicBezTo>
                  <a:cubicBezTo>
                    <a:pt x="5461" y="21717"/>
                    <a:pt x="8636" y="17018"/>
                    <a:pt x="12827" y="12827"/>
                  </a:cubicBezTo>
                  <a:cubicBezTo>
                    <a:pt x="17018" y="8636"/>
                    <a:pt x="21717" y="5588"/>
                    <a:pt x="27051" y="3302"/>
                  </a:cubicBezTo>
                  <a:cubicBezTo>
                    <a:pt x="32385" y="1016"/>
                    <a:pt x="37973" y="0"/>
                    <a:pt x="43815" y="0"/>
                  </a:cubicBezTo>
                  <a:cubicBezTo>
                    <a:pt x="49657" y="0"/>
                    <a:pt x="55245" y="1143"/>
                    <a:pt x="60579" y="3302"/>
                  </a:cubicBezTo>
                  <a:cubicBezTo>
                    <a:pt x="65913" y="5461"/>
                    <a:pt x="70612" y="8636"/>
                    <a:pt x="74803" y="12827"/>
                  </a:cubicBezTo>
                  <a:cubicBezTo>
                    <a:pt x="78994" y="17018"/>
                    <a:pt x="82042" y="21717"/>
                    <a:pt x="84328" y="27051"/>
                  </a:cubicBezTo>
                  <a:cubicBezTo>
                    <a:pt x="86614" y="32385"/>
                    <a:pt x="87630" y="37973"/>
                    <a:pt x="87630" y="43815"/>
                  </a:cubicBezTo>
                  <a:close/>
                </a:path>
              </a:pathLst>
            </a:custGeom>
            <a:solidFill>
              <a:srgbClr val="290606"/>
            </a:solidFill>
          </p:spPr>
        </p:sp>
      </p:grpSp>
      <p:grpSp>
        <p:nvGrpSpPr>
          <p:cNvPr id="7" name="Group 7"/>
          <p:cNvGrpSpPr>
            <a:grpSpLocks noChangeAspect="1"/>
          </p:cNvGrpSpPr>
          <p:nvPr/>
        </p:nvGrpSpPr>
        <p:grpSpPr>
          <a:xfrm>
            <a:off x="10184397" y="3596878"/>
            <a:ext cx="87525" cy="87525"/>
            <a:chOff x="0" y="0"/>
            <a:chExt cx="87528" cy="87528"/>
          </a:xfrm>
        </p:grpSpPr>
        <p:sp>
          <p:nvSpPr>
            <p:cNvPr id="8" name="Freeform 8"/>
            <p:cNvSpPr/>
            <p:nvPr/>
          </p:nvSpPr>
          <p:spPr>
            <a:xfrm>
              <a:off x="0" y="0"/>
              <a:ext cx="87630" cy="87630"/>
            </a:xfrm>
            <a:custGeom>
              <a:avLst/>
              <a:gdLst/>
              <a:ahLst/>
              <a:cxnLst/>
              <a:rect l="l" t="t" r="r" b="b"/>
              <a:pathLst>
                <a:path w="87630" h="87630">
                  <a:moveTo>
                    <a:pt x="87503" y="43815"/>
                  </a:moveTo>
                  <a:cubicBezTo>
                    <a:pt x="87503" y="49657"/>
                    <a:pt x="86360" y="55245"/>
                    <a:pt x="84201" y="60579"/>
                  </a:cubicBezTo>
                  <a:cubicBezTo>
                    <a:pt x="82042" y="65913"/>
                    <a:pt x="78867" y="70612"/>
                    <a:pt x="74676" y="74803"/>
                  </a:cubicBezTo>
                  <a:cubicBezTo>
                    <a:pt x="70485" y="78994"/>
                    <a:pt x="65786" y="82042"/>
                    <a:pt x="60452" y="84328"/>
                  </a:cubicBezTo>
                  <a:cubicBezTo>
                    <a:pt x="55118" y="86614"/>
                    <a:pt x="49530" y="87630"/>
                    <a:pt x="43688" y="87630"/>
                  </a:cubicBezTo>
                  <a:cubicBezTo>
                    <a:pt x="37846" y="87630"/>
                    <a:pt x="32258" y="86487"/>
                    <a:pt x="26924" y="84328"/>
                  </a:cubicBezTo>
                  <a:cubicBezTo>
                    <a:pt x="21590" y="82169"/>
                    <a:pt x="16891" y="78994"/>
                    <a:pt x="12700" y="74803"/>
                  </a:cubicBezTo>
                  <a:cubicBezTo>
                    <a:pt x="8509" y="70612"/>
                    <a:pt x="5461" y="65913"/>
                    <a:pt x="3175" y="60579"/>
                  </a:cubicBezTo>
                  <a:cubicBezTo>
                    <a:pt x="889" y="55245"/>
                    <a:pt x="0" y="49530"/>
                    <a:pt x="0" y="43815"/>
                  </a:cubicBezTo>
                  <a:cubicBezTo>
                    <a:pt x="0" y="38100"/>
                    <a:pt x="1143" y="32385"/>
                    <a:pt x="3302" y="27051"/>
                  </a:cubicBezTo>
                  <a:cubicBezTo>
                    <a:pt x="5461" y="21717"/>
                    <a:pt x="8636" y="17018"/>
                    <a:pt x="12827" y="12827"/>
                  </a:cubicBezTo>
                  <a:cubicBezTo>
                    <a:pt x="17018" y="8636"/>
                    <a:pt x="21717" y="5588"/>
                    <a:pt x="27051" y="3302"/>
                  </a:cubicBezTo>
                  <a:cubicBezTo>
                    <a:pt x="32385" y="1016"/>
                    <a:pt x="37973" y="0"/>
                    <a:pt x="43815" y="0"/>
                  </a:cubicBezTo>
                  <a:cubicBezTo>
                    <a:pt x="49657" y="0"/>
                    <a:pt x="55245" y="1143"/>
                    <a:pt x="60579" y="3302"/>
                  </a:cubicBezTo>
                  <a:cubicBezTo>
                    <a:pt x="65913" y="5461"/>
                    <a:pt x="70612" y="8636"/>
                    <a:pt x="74803" y="12827"/>
                  </a:cubicBezTo>
                  <a:cubicBezTo>
                    <a:pt x="78994" y="17018"/>
                    <a:pt x="82042" y="21717"/>
                    <a:pt x="84328" y="27051"/>
                  </a:cubicBezTo>
                  <a:cubicBezTo>
                    <a:pt x="86614" y="32385"/>
                    <a:pt x="87630" y="37973"/>
                    <a:pt x="87630" y="43815"/>
                  </a:cubicBezTo>
                  <a:close/>
                </a:path>
              </a:pathLst>
            </a:custGeom>
            <a:solidFill>
              <a:srgbClr val="290606"/>
            </a:solidFill>
          </p:spPr>
        </p:sp>
      </p:grpSp>
      <p:grpSp>
        <p:nvGrpSpPr>
          <p:cNvPr id="9" name="Group 9"/>
          <p:cNvGrpSpPr>
            <a:grpSpLocks noChangeAspect="1"/>
          </p:cNvGrpSpPr>
          <p:nvPr/>
        </p:nvGrpSpPr>
        <p:grpSpPr>
          <a:xfrm>
            <a:off x="10184397" y="4170674"/>
            <a:ext cx="87525" cy="87525"/>
            <a:chOff x="0" y="0"/>
            <a:chExt cx="87528" cy="87528"/>
          </a:xfrm>
        </p:grpSpPr>
        <p:sp>
          <p:nvSpPr>
            <p:cNvPr id="10" name="Freeform 10"/>
            <p:cNvSpPr/>
            <p:nvPr/>
          </p:nvSpPr>
          <p:spPr>
            <a:xfrm>
              <a:off x="0" y="0"/>
              <a:ext cx="87630" cy="87630"/>
            </a:xfrm>
            <a:custGeom>
              <a:avLst/>
              <a:gdLst/>
              <a:ahLst/>
              <a:cxnLst/>
              <a:rect l="l" t="t" r="r" b="b"/>
              <a:pathLst>
                <a:path w="87630" h="87630">
                  <a:moveTo>
                    <a:pt x="87503" y="43815"/>
                  </a:moveTo>
                  <a:cubicBezTo>
                    <a:pt x="87503" y="49657"/>
                    <a:pt x="86360" y="55245"/>
                    <a:pt x="84201" y="60579"/>
                  </a:cubicBezTo>
                  <a:cubicBezTo>
                    <a:pt x="82042" y="65913"/>
                    <a:pt x="78867" y="70612"/>
                    <a:pt x="74676" y="74803"/>
                  </a:cubicBezTo>
                  <a:cubicBezTo>
                    <a:pt x="70485" y="78994"/>
                    <a:pt x="65786" y="82042"/>
                    <a:pt x="60452" y="84328"/>
                  </a:cubicBezTo>
                  <a:cubicBezTo>
                    <a:pt x="55118" y="86614"/>
                    <a:pt x="49530" y="87630"/>
                    <a:pt x="43688" y="87630"/>
                  </a:cubicBezTo>
                  <a:cubicBezTo>
                    <a:pt x="37846" y="87630"/>
                    <a:pt x="32258" y="86487"/>
                    <a:pt x="26924" y="84328"/>
                  </a:cubicBezTo>
                  <a:cubicBezTo>
                    <a:pt x="21590" y="82169"/>
                    <a:pt x="16891" y="78994"/>
                    <a:pt x="12700" y="74803"/>
                  </a:cubicBezTo>
                  <a:cubicBezTo>
                    <a:pt x="8509" y="70612"/>
                    <a:pt x="5461" y="65913"/>
                    <a:pt x="3175" y="60579"/>
                  </a:cubicBezTo>
                  <a:cubicBezTo>
                    <a:pt x="889" y="55245"/>
                    <a:pt x="0" y="49530"/>
                    <a:pt x="0" y="43815"/>
                  </a:cubicBezTo>
                  <a:cubicBezTo>
                    <a:pt x="0" y="38100"/>
                    <a:pt x="1143" y="32385"/>
                    <a:pt x="3302" y="27051"/>
                  </a:cubicBezTo>
                  <a:cubicBezTo>
                    <a:pt x="5461" y="21717"/>
                    <a:pt x="8636" y="17018"/>
                    <a:pt x="12827" y="12827"/>
                  </a:cubicBezTo>
                  <a:cubicBezTo>
                    <a:pt x="17018" y="8636"/>
                    <a:pt x="21717" y="5588"/>
                    <a:pt x="27051" y="3302"/>
                  </a:cubicBezTo>
                  <a:cubicBezTo>
                    <a:pt x="32385" y="1016"/>
                    <a:pt x="37973" y="0"/>
                    <a:pt x="43815" y="0"/>
                  </a:cubicBezTo>
                  <a:cubicBezTo>
                    <a:pt x="49657" y="0"/>
                    <a:pt x="55245" y="1143"/>
                    <a:pt x="60579" y="3302"/>
                  </a:cubicBezTo>
                  <a:cubicBezTo>
                    <a:pt x="65913" y="5461"/>
                    <a:pt x="70612" y="8636"/>
                    <a:pt x="74803" y="12827"/>
                  </a:cubicBezTo>
                  <a:cubicBezTo>
                    <a:pt x="78994" y="17018"/>
                    <a:pt x="82042" y="21717"/>
                    <a:pt x="84328" y="27051"/>
                  </a:cubicBezTo>
                  <a:cubicBezTo>
                    <a:pt x="86614" y="32385"/>
                    <a:pt x="87630" y="37973"/>
                    <a:pt x="87630" y="43815"/>
                  </a:cubicBezTo>
                  <a:close/>
                </a:path>
              </a:pathLst>
            </a:custGeom>
            <a:solidFill>
              <a:srgbClr val="290606"/>
            </a:solidFill>
          </p:spPr>
        </p:sp>
      </p:grpSp>
      <p:grpSp>
        <p:nvGrpSpPr>
          <p:cNvPr id="11" name="Group 11"/>
          <p:cNvGrpSpPr>
            <a:grpSpLocks noChangeAspect="1"/>
          </p:cNvGrpSpPr>
          <p:nvPr/>
        </p:nvGrpSpPr>
        <p:grpSpPr>
          <a:xfrm>
            <a:off x="10184397" y="4744479"/>
            <a:ext cx="87525" cy="87525"/>
            <a:chOff x="0" y="0"/>
            <a:chExt cx="87528" cy="87528"/>
          </a:xfrm>
        </p:grpSpPr>
        <p:sp>
          <p:nvSpPr>
            <p:cNvPr id="12" name="Freeform 12"/>
            <p:cNvSpPr/>
            <p:nvPr/>
          </p:nvSpPr>
          <p:spPr>
            <a:xfrm>
              <a:off x="0" y="0"/>
              <a:ext cx="87630" cy="87630"/>
            </a:xfrm>
            <a:custGeom>
              <a:avLst/>
              <a:gdLst/>
              <a:ahLst/>
              <a:cxnLst/>
              <a:rect l="l" t="t" r="r" b="b"/>
              <a:pathLst>
                <a:path w="87630" h="87630">
                  <a:moveTo>
                    <a:pt x="87503" y="43815"/>
                  </a:moveTo>
                  <a:cubicBezTo>
                    <a:pt x="87503" y="49657"/>
                    <a:pt x="86360" y="55245"/>
                    <a:pt x="84201" y="60579"/>
                  </a:cubicBezTo>
                  <a:cubicBezTo>
                    <a:pt x="82042" y="65913"/>
                    <a:pt x="78867" y="70612"/>
                    <a:pt x="74676" y="74803"/>
                  </a:cubicBezTo>
                  <a:cubicBezTo>
                    <a:pt x="70485" y="78994"/>
                    <a:pt x="65786" y="82042"/>
                    <a:pt x="60452" y="84328"/>
                  </a:cubicBezTo>
                  <a:cubicBezTo>
                    <a:pt x="55118" y="86614"/>
                    <a:pt x="49530" y="87630"/>
                    <a:pt x="43688" y="87630"/>
                  </a:cubicBezTo>
                  <a:cubicBezTo>
                    <a:pt x="37846" y="87630"/>
                    <a:pt x="32258" y="86487"/>
                    <a:pt x="26924" y="84328"/>
                  </a:cubicBezTo>
                  <a:cubicBezTo>
                    <a:pt x="21590" y="82169"/>
                    <a:pt x="16891" y="78994"/>
                    <a:pt x="12700" y="74803"/>
                  </a:cubicBezTo>
                  <a:cubicBezTo>
                    <a:pt x="8509" y="70612"/>
                    <a:pt x="5461" y="65913"/>
                    <a:pt x="3175" y="60579"/>
                  </a:cubicBezTo>
                  <a:cubicBezTo>
                    <a:pt x="889" y="55245"/>
                    <a:pt x="0" y="49530"/>
                    <a:pt x="0" y="43815"/>
                  </a:cubicBezTo>
                  <a:cubicBezTo>
                    <a:pt x="0" y="38100"/>
                    <a:pt x="1143" y="32385"/>
                    <a:pt x="3302" y="27051"/>
                  </a:cubicBezTo>
                  <a:cubicBezTo>
                    <a:pt x="5461" y="21717"/>
                    <a:pt x="8636" y="17018"/>
                    <a:pt x="12827" y="12827"/>
                  </a:cubicBezTo>
                  <a:cubicBezTo>
                    <a:pt x="17018" y="8636"/>
                    <a:pt x="21717" y="5588"/>
                    <a:pt x="27051" y="3302"/>
                  </a:cubicBezTo>
                  <a:cubicBezTo>
                    <a:pt x="32385" y="1016"/>
                    <a:pt x="37973" y="0"/>
                    <a:pt x="43815" y="0"/>
                  </a:cubicBezTo>
                  <a:cubicBezTo>
                    <a:pt x="49657" y="0"/>
                    <a:pt x="55245" y="1143"/>
                    <a:pt x="60579" y="3302"/>
                  </a:cubicBezTo>
                  <a:cubicBezTo>
                    <a:pt x="65913" y="5461"/>
                    <a:pt x="70612" y="8636"/>
                    <a:pt x="74803" y="12827"/>
                  </a:cubicBezTo>
                  <a:cubicBezTo>
                    <a:pt x="78994" y="17018"/>
                    <a:pt x="82042" y="21717"/>
                    <a:pt x="84328" y="27051"/>
                  </a:cubicBezTo>
                  <a:cubicBezTo>
                    <a:pt x="86614" y="32385"/>
                    <a:pt x="87630" y="37973"/>
                    <a:pt x="87630" y="43815"/>
                  </a:cubicBezTo>
                  <a:close/>
                </a:path>
              </a:pathLst>
            </a:custGeom>
            <a:solidFill>
              <a:srgbClr val="290606"/>
            </a:solidFill>
          </p:spPr>
        </p:sp>
      </p:grpSp>
      <p:grpSp>
        <p:nvGrpSpPr>
          <p:cNvPr id="13" name="Group 13"/>
          <p:cNvGrpSpPr>
            <a:grpSpLocks noChangeAspect="1"/>
          </p:cNvGrpSpPr>
          <p:nvPr/>
        </p:nvGrpSpPr>
        <p:grpSpPr>
          <a:xfrm>
            <a:off x="10184397" y="5318274"/>
            <a:ext cx="87525" cy="87525"/>
            <a:chOff x="0" y="0"/>
            <a:chExt cx="87528" cy="87528"/>
          </a:xfrm>
        </p:grpSpPr>
        <p:sp>
          <p:nvSpPr>
            <p:cNvPr id="14" name="Freeform 14"/>
            <p:cNvSpPr/>
            <p:nvPr/>
          </p:nvSpPr>
          <p:spPr>
            <a:xfrm>
              <a:off x="0" y="0"/>
              <a:ext cx="87630" cy="87630"/>
            </a:xfrm>
            <a:custGeom>
              <a:avLst/>
              <a:gdLst/>
              <a:ahLst/>
              <a:cxnLst/>
              <a:rect l="l" t="t" r="r" b="b"/>
              <a:pathLst>
                <a:path w="87630" h="87630">
                  <a:moveTo>
                    <a:pt x="87503" y="43815"/>
                  </a:moveTo>
                  <a:cubicBezTo>
                    <a:pt x="87503" y="49657"/>
                    <a:pt x="86360" y="55245"/>
                    <a:pt x="84201" y="60579"/>
                  </a:cubicBezTo>
                  <a:cubicBezTo>
                    <a:pt x="82042" y="65913"/>
                    <a:pt x="78867" y="70612"/>
                    <a:pt x="74676" y="74803"/>
                  </a:cubicBezTo>
                  <a:cubicBezTo>
                    <a:pt x="70485" y="78994"/>
                    <a:pt x="65786" y="82042"/>
                    <a:pt x="60452" y="84328"/>
                  </a:cubicBezTo>
                  <a:cubicBezTo>
                    <a:pt x="55118" y="86614"/>
                    <a:pt x="49530" y="87630"/>
                    <a:pt x="43688" y="87630"/>
                  </a:cubicBezTo>
                  <a:cubicBezTo>
                    <a:pt x="37846" y="87630"/>
                    <a:pt x="32258" y="86487"/>
                    <a:pt x="26924" y="84328"/>
                  </a:cubicBezTo>
                  <a:cubicBezTo>
                    <a:pt x="21590" y="82169"/>
                    <a:pt x="16891" y="78994"/>
                    <a:pt x="12700" y="74803"/>
                  </a:cubicBezTo>
                  <a:cubicBezTo>
                    <a:pt x="8509" y="70612"/>
                    <a:pt x="5461" y="65913"/>
                    <a:pt x="3175" y="60579"/>
                  </a:cubicBezTo>
                  <a:cubicBezTo>
                    <a:pt x="889" y="55245"/>
                    <a:pt x="0" y="49530"/>
                    <a:pt x="0" y="43815"/>
                  </a:cubicBezTo>
                  <a:cubicBezTo>
                    <a:pt x="0" y="38100"/>
                    <a:pt x="1143" y="32385"/>
                    <a:pt x="3302" y="27051"/>
                  </a:cubicBezTo>
                  <a:cubicBezTo>
                    <a:pt x="5461" y="21717"/>
                    <a:pt x="8636" y="17018"/>
                    <a:pt x="12827" y="12827"/>
                  </a:cubicBezTo>
                  <a:cubicBezTo>
                    <a:pt x="17018" y="8636"/>
                    <a:pt x="21717" y="5588"/>
                    <a:pt x="27051" y="3302"/>
                  </a:cubicBezTo>
                  <a:cubicBezTo>
                    <a:pt x="32385" y="1016"/>
                    <a:pt x="37973" y="0"/>
                    <a:pt x="43815" y="0"/>
                  </a:cubicBezTo>
                  <a:cubicBezTo>
                    <a:pt x="49657" y="0"/>
                    <a:pt x="55245" y="1143"/>
                    <a:pt x="60579" y="3302"/>
                  </a:cubicBezTo>
                  <a:cubicBezTo>
                    <a:pt x="65913" y="5461"/>
                    <a:pt x="70612" y="8636"/>
                    <a:pt x="74803" y="12827"/>
                  </a:cubicBezTo>
                  <a:cubicBezTo>
                    <a:pt x="78994" y="17018"/>
                    <a:pt x="82042" y="21717"/>
                    <a:pt x="84328" y="27051"/>
                  </a:cubicBezTo>
                  <a:cubicBezTo>
                    <a:pt x="86614" y="32385"/>
                    <a:pt x="87630" y="37973"/>
                    <a:pt x="87630" y="43815"/>
                  </a:cubicBezTo>
                  <a:close/>
                </a:path>
              </a:pathLst>
            </a:custGeom>
            <a:solidFill>
              <a:srgbClr val="290606"/>
            </a:solidFill>
          </p:spPr>
        </p:sp>
      </p:grpSp>
      <p:grpSp>
        <p:nvGrpSpPr>
          <p:cNvPr id="15" name="Group 15"/>
          <p:cNvGrpSpPr>
            <a:grpSpLocks noChangeAspect="1"/>
          </p:cNvGrpSpPr>
          <p:nvPr/>
        </p:nvGrpSpPr>
        <p:grpSpPr>
          <a:xfrm>
            <a:off x="10184397" y="5892079"/>
            <a:ext cx="87525" cy="87525"/>
            <a:chOff x="0" y="0"/>
            <a:chExt cx="87528" cy="87528"/>
          </a:xfrm>
        </p:grpSpPr>
        <p:sp>
          <p:nvSpPr>
            <p:cNvPr id="16" name="Freeform 16"/>
            <p:cNvSpPr/>
            <p:nvPr/>
          </p:nvSpPr>
          <p:spPr>
            <a:xfrm>
              <a:off x="0" y="0"/>
              <a:ext cx="87630" cy="87630"/>
            </a:xfrm>
            <a:custGeom>
              <a:avLst/>
              <a:gdLst/>
              <a:ahLst/>
              <a:cxnLst/>
              <a:rect l="l" t="t" r="r" b="b"/>
              <a:pathLst>
                <a:path w="87630" h="87630">
                  <a:moveTo>
                    <a:pt x="87503" y="43815"/>
                  </a:moveTo>
                  <a:cubicBezTo>
                    <a:pt x="87503" y="49657"/>
                    <a:pt x="86360" y="55245"/>
                    <a:pt x="84201" y="60579"/>
                  </a:cubicBezTo>
                  <a:cubicBezTo>
                    <a:pt x="82042" y="65913"/>
                    <a:pt x="78867" y="70612"/>
                    <a:pt x="74676" y="74803"/>
                  </a:cubicBezTo>
                  <a:cubicBezTo>
                    <a:pt x="70485" y="78994"/>
                    <a:pt x="65786" y="82042"/>
                    <a:pt x="60452" y="84328"/>
                  </a:cubicBezTo>
                  <a:cubicBezTo>
                    <a:pt x="55118" y="86614"/>
                    <a:pt x="49530" y="87630"/>
                    <a:pt x="43688" y="87630"/>
                  </a:cubicBezTo>
                  <a:cubicBezTo>
                    <a:pt x="37846" y="87630"/>
                    <a:pt x="32258" y="86487"/>
                    <a:pt x="26924" y="84328"/>
                  </a:cubicBezTo>
                  <a:cubicBezTo>
                    <a:pt x="21590" y="82169"/>
                    <a:pt x="16891" y="78994"/>
                    <a:pt x="12700" y="74803"/>
                  </a:cubicBezTo>
                  <a:cubicBezTo>
                    <a:pt x="8509" y="70612"/>
                    <a:pt x="5461" y="65913"/>
                    <a:pt x="3175" y="60579"/>
                  </a:cubicBezTo>
                  <a:cubicBezTo>
                    <a:pt x="889" y="55245"/>
                    <a:pt x="0" y="49530"/>
                    <a:pt x="0" y="43815"/>
                  </a:cubicBezTo>
                  <a:cubicBezTo>
                    <a:pt x="0" y="38100"/>
                    <a:pt x="1143" y="32385"/>
                    <a:pt x="3302" y="27051"/>
                  </a:cubicBezTo>
                  <a:cubicBezTo>
                    <a:pt x="5461" y="21717"/>
                    <a:pt x="8636" y="17018"/>
                    <a:pt x="12827" y="12827"/>
                  </a:cubicBezTo>
                  <a:cubicBezTo>
                    <a:pt x="17018" y="8636"/>
                    <a:pt x="21717" y="5588"/>
                    <a:pt x="27051" y="3302"/>
                  </a:cubicBezTo>
                  <a:cubicBezTo>
                    <a:pt x="32385" y="1016"/>
                    <a:pt x="37973" y="0"/>
                    <a:pt x="43815" y="0"/>
                  </a:cubicBezTo>
                  <a:cubicBezTo>
                    <a:pt x="49657" y="0"/>
                    <a:pt x="55245" y="1143"/>
                    <a:pt x="60579" y="3302"/>
                  </a:cubicBezTo>
                  <a:cubicBezTo>
                    <a:pt x="65913" y="5461"/>
                    <a:pt x="70612" y="8636"/>
                    <a:pt x="74803" y="12827"/>
                  </a:cubicBezTo>
                  <a:cubicBezTo>
                    <a:pt x="78994" y="17018"/>
                    <a:pt x="82042" y="21717"/>
                    <a:pt x="84328" y="27051"/>
                  </a:cubicBezTo>
                  <a:cubicBezTo>
                    <a:pt x="86614" y="32385"/>
                    <a:pt x="87630" y="37973"/>
                    <a:pt x="87630" y="43815"/>
                  </a:cubicBezTo>
                  <a:close/>
                </a:path>
              </a:pathLst>
            </a:custGeom>
            <a:solidFill>
              <a:srgbClr val="290606"/>
            </a:solidFill>
          </p:spPr>
        </p:sp>
      </p:grpSp>
      <p:grpSp>
        <p:nvGrpSpPr>
          <p:cNvPr id="17" name="Group 17"/>
          <p:cNvGrpSpPr>
            <a:grpSpLocks noChangeAspect="1"/>
          </p:cNvGrpSpPr>
          <p:nvPr/>
        </p:nvGrpSpPr>
        <p:grpSpPr>
          <a:xfrm>
            <a:off x="10184397" y="6465875"/>
            <a:ext cx="87525" cy="87525"/>
            <a:chOff x="0" y="0"/>
            <a:chExt cx="87528" cy="87528"/>
          </a:xfrm>
        </p:grpSpPr>
        <p:sp>
          <p:nvSpPr>
            <p:cNvPr id="18" name="Freeform 18"/>
            <p:cNvSpPr/>
            <p:nvPr/>
          </p:nvSpPr>
          <p:spPr>
            <a:xfrm>
              <a:off x="0" y="0"/>
              <a:ext cx="87630" cy="87630"/>
            </a:xfrm>
            <a:custGeom>
              <a:avLst/>
              <a:gdLst/>
              <a:ahLst/>
              <a:cxnLst/>
              <a:rect l="l" t="t" r="r" b="b"/>
              <a:pathLst>
                <a:path w="87630" h="87630">
                  <a:moveTo>
                    <a:pt x="87503" y="43815"/>
                  </a:moveTo>
                  <a:cubicBezTo>
                    <a:pt x="87503" y="49657"/>
                    <a:pt x="86360" y="55245"/>
                    <a:pt x="84201" y="60579"/>
                  </a:cubicBezTo>
                  <a:cubicBezTo>
                    <a:pt x="82042" y="65913"/>
                    <a:pt x="78867" y="70612"/>
                    <a:pt x="74676" y="74803"/>
                  </a:cubicBezTo>
                  <a:cubicBezTo>
                    <a:pt x="70485" y="78994"/>
                    <a:pt x="65786" y="82042"/>
                    <a:pt x="60452" y="84328"/>
                  </a:cubicBezTo>
                  <a:cubicBezTo>
                    <a:pt x="55118" y="86614"/>
                    <a:pt x="49530" y="87630"/>
                    <a:pt x="43688" y="87630"/>
                  </a:cubicBezTo>
                  <a:cubicBezTo>
                    <a:pt x="37846" y="87630"/>
                    <a:pt x="32258" y="86487"/>
                    <a:pt x="26924" y="84328"/>
                  </a:cubicBezTo>
                  <a:cubicBezTo>
                    <a:pt x="21590" y="82169"/>
                    <a:pt x="16891" y="78994"/>
                    <a:pt x="12700" y="74803"/>
                  </a:cubicBezTo>
                  <a:cubicBezTo>
                    <a:pt x="8509" y="70612"/>
                    <a:pt x="5461" y="65913"/>
                    <a:pt x="3175" y="60579"/>
                  </a:cubicBezTo>
                  <a:cubicBezTo>
                    <a:pt x="889" y="55245"/>
                    <a:pt x="0" y="49530"/>
                    <a:pt x="0" y="43815"/>
                  </a:cubicBezTo>
                  <a:cubicBezTo>
                    <a:pt x="0" y="38100"/>
                    <a:pt x="1143" y="32385"/>
                    <a:pt x="3302" y="27051"/>
                  </a:cubicBezTo>
                  <a:cubicBezTo>
                    <a:pt x="5461" y="21717"/>
                    <a:pt x="8636" y="17018"/>
                    <a:pt x="12827" y="12827"/>
                  </a:cubicBezTo>
                  <a:cubicBezTo>
                    <a:pt x="17018" y="8636"/>
                    <a:pt x="21717" y="5588"/>
                    <a:pt x="27051" y="3302"/>
                  </a:cubicBezTo>
                  <a:cubicBezTo>
                    <a:pt x="32385" y="1016"/>
                    <a:pt x="37973" y="0"/>
                    <a:pt x="43815" y="0"/>
                  </a:cubicBezTo>
                  <a:cubicBezTo>
                    <a:pt x="49657" y="0"/>
                    <a:pt x="55245" y="1143"/>
                    <a:pt x="60579" y="3302"/>
                  </a:cubicBezTo>
                  <a:cubicBezTo>
                    <a:pt x="65913" y="5461"/>
                    <a:pt x="70612" y="8636"/>
                    <a:pt x="74803" y="12827"/>
                  </a:cubicBezTo>
                  <a:cubicBezTo>
                    <a:pt x="78994" y="17018"/>
                    <a:pt x="82042" y="21717"/>
                    <a:pt x="84328" y="27051"/>
                  </a:cubicBezTo>
                  <a:cubicBezTo>
                    <a:pt x="86614" y="32385"/>
                    <a:pt x="87630" y="37973"/>
                    <a:pt x="87630" y="43815"/>
                  </a:cubicBezTo>
                  <a:close/>
                </a:path>
              </a:pathLst>
            </a:custGeom>
            <a:solidFill>
              <a:srgbClr val="290606"/>
            </a:solidFill>
          </p:spPr>
        </p:sp>
      </p:grpSp>
      <p:grpSp>
        <p:nvGrpSpPr>
          <p:cNvPr id="19" name="Group 19"/>
          <p:cNvGrpSpPr>
            <a:grpSpLocks noChangeAspect="1"/>
          </p:cNvGrpSpPr>
          <p:nvPr/>
        </p:nvGrpSpPr>
        <p:grpSpPr>
          <a:xfrm>
            <a:off x="10184397" y="7613475"/>
            <a:ext cx="87525" cy="87525"/>
            <a:chOff x="0" y="0"/>
            <a:chExt cx="87528" cy="87528"/>
          </a:xfrm>
        </p:grpSpPr>
        <p:sp>
          <p:nvSpPr>
            <p:cNvPr id="20" name="Freeform 20"/>
            <p:cNvSpPr/>
            <p:nvPr/>
          </p:nvSpPr>
          <p:spPr>
            <a:xfrm>
              <a:off x="0" y="0"/>
              <a:ext cx="87630" cy="87630"/>
            </a:xfrm>
            <a:custGeom>
              <a:avLst/>
              <a:gdLst/>
              <a:ahLst/>
              <a:cxnLst/>
              <a:rect l="l" t="t" r="r" b="b"/>
              <a:pathLst>
                <a:path w="87630" h="87630">
                  <a:moveTo>
                    <a:pt x="87503" y="43815"/>
                  </a:moveTo>
                  <a:cubicBezTo>
                    <a:pt x="87503" y="49657"/>
                    <a:pt x="86360" y="55245"/>
                    <a:pt x="84201" y="60579"/>
                  </a:cubicBezTo>
                  <a:cubicBezTo>
                    <a:pt x="82042" y="65913"/>
                    <a:pt x="78867" y="70612"/>
                    <a:pt x="74676" y="74803"/>
                  </a:cubicBezTo>
                  <a:cubicBezTo>
                    <a:pt x="70485" y="78994"/>
                    <a:pt x="65786" y="82042"/>
                    <a:pt x="60452" y="84328"/>
                  </a:cubicBezTo>
                  <a:cubicBezTo>
                    <a:pt x="55118" y="86614"/>
                    <a:pt x="49530" y="87630"/>
                    <a:pt x="43688" y="87630"/>
                  </a:cubicBezTo>
                  <a:cubicBezTo>
                    <a:pt x="37846" y="87630"/>
                    <a:pt x="32258" y="86487"/>
                    <a:pt x="26924" y="84328"/>
                  </a:cubicBezTo>
                  <a:cubicBezTo>
                    <a:pt x="21590" y="82169"/>
                    <a:pt x="16891" y="78994"/>
                    <a:pt x="12700" y="74803"/>
                  </a:cubicBezTo>
                  <a:cubicBezTo>
                    <a:pt x="8509" y="70612"/>
                    <a:pt x="5461" y="65913"/>
                    <a:pt x="3175" y="60579"/>
                  </a:cubicBezTo>
                  <a:cubicBezTo>
                    <a:pt x="889" y="55245"/>
                    <a:pt x="0" y="49530"/>
                    <a:pt x="0" y="43815"/>
                  </a:cubicBezTo>
                  <a:cubicBezTo>
                    <a:pt x="0" y="38100"/>
                    <a:pt x="1143" y="32385"/>
                    <a:pt x="3302" y="27051"/>
                  </a:cubicBezTo>
                  <a:cubicBezTo>
                    <a:pt x="5461" y="21717"/>
                    <a:pt x="8636" y="17018"/>
                    <a:pt x="12827" y="12827"/>
                  </a:cubicBezTo>
                  <a:cubicBezTo>
                    <a:pt x="17018" y="8636"/>
                    <a:pt x="21717" y="5588"/>
                    <a:pt x="27051" y="3302"/>
                  </a:cubicBezTo>
                  <a:cubicBezTo>
                    <a:pt x="32385" y="1016"/>
                    <a:pt x="37973" y="0"/>
                    <a:pt x="43815" y="0"/>
                  </a:cubicBezTo>
                  <a:cubicBezTo>
                    <a:pt x="49657" y="0"/>
                    <a:pt x="55245" y="1143"/>
                    <a:pt x="60579" y="3302"/>
                  </a:cubicBezTo>
                  <a:cubicBezTo>
                    <a:pt x="65913" y="5461"/>
                    <a:pt x="70612" y="8636"/>
                    <a:pt x="74803" y="12827"/>
                  </a:cubicBezTo>
                  <a:cubicBezTo>
                    <a:pt x="78994" y="17018"/>
                    <a:pt x="82042" y="21717"/>
                    <a:pt x="84328" y="27051"/>
                  </a:cubicBezTo>
                  <a:cubicBezTo>
                    <a:pt x="86614" y="32385"/>
                    <a:pt x="87630" y="37973"/>
                    <a:pt x="87630" y="43815"/>
                  </a:cubicBezTo>
                  <a:close/>
                </a:path>
              </a:pathLst>
            </a:custGeom>
            <a:solidFill>
              <a:srgbClr val="290606"/>
            </a:solidFill>
          </p:spPr>
        </p:sp>
      </p:grpSp>
      <p:grpSp>
        <p:nvGrpSpPr>
          <p:cNvPr id="21" name="Group 21"/>
          <p:cNvGrpSpPr>
            <a:grpSpLocks noChangeAspect="1"/>
          </p:cNvGrpSpPr>
          <p:nvPr/>
        </p:nvGrpSpPr>
        <p:grpSpPr>
          <a:xfrm>
            <a:off x="10184397" y="8187271"/>
            <a:ext cx="87525" cy="87525"/>
            <a:chOff x="0" y="0"/>
            <a:chExt cx="87528" cy="87528"/>
          </a:xfrm>
        </p:grpSpPr>
        <p:sp>
          <p:nvSpPr>
            <p:cNvPr id="22" name="Freeform 22"/>
            <p:cNvSpPr/>
            <p:nvPr/>
          </p:nvSpPr>
          <p:spPr>
            <a:xfrm>
              <a:off x="0" y="0"/>
              <a:ext cx="87630" cy="87630"/>
            </a:xfrm>
            <a:custGeom>
              <a:avLst/>
              <a:gdLst/>
              <a:ahLst/>
              <a:cxnLst/>
              <a:rect l="l" t="t" r="r" b="b"/>
              <a:pathLst>
                <a:path w="87630" h="87630">
                  <a:moveTo>
                    <a:pt x="87503" y="43815"/>
                  </a:moveTo>
                  <a:cubicBezTo>
                    <a:pt x="87503" y="49657"/>
                    <a:pt x="86360" y="55245"/>
                    <a:pt x="84201" y="60579"/>
                  </a:cubicBezTo>
                  <a:cubicBezTo>
                    <a:pt x="82042" y="65913"/>
                    <a:pt x="78867" y="70612"/>
                    <a:pt x="74676" y="74803"/>
                  </a:cubicBezTo>
                  <a:cubicBezTo>
                    <a:pt x="70485" y="78994"/>
                    <a:pt x="65786" y="82042"/>
                    <a:pt x="60452" y="84328"/>
                  </a:cubicBezTo>
                  <a:cubicBezTo>
                    <a:pt x="55118" y="86614"/>
                    <a:pt x="49530" y="87630"/>
                    <a:pt x="43688" y="87630"/>
                  </a:cubicBezTo>
                  <a:cubicBezTo>
                    <a:pt x="37846" y="87630"/>
                    <a:pt x="32258" y="86487"/>
                    <a:pt x="26924" y="84328"/>
                  </a:cubicBezTo>
                  <a:cubicBezTo>
                    <a:pt x="21590" y="82169"/>
                    <a:pt x="16891" y="78994"/>
                    <a:pt x="12700" y="74803"/>
                  </a:cubicBezTo>
                  <a:cubicBezTo>
                    <a:pt x="8509" y="70612"/>
                    <a:pt x="5461" y="65913"/>
                    <a:pt x="3175" y="60579"/>
                  </a:cubicBezTo>
                  <a:cubicBezTo>
                    <a:pt x="889" y="55245"/>
                    <a:pt x="0" y="49530"/>
                    <a:pt x="0" y="43815"/>
                  </a:cubicBezTo>
                  <a:cubicBezTo>
                    <a:pt x="0" y="38100"/>
                    <a:pt x="1143" y="32385"/>
                    <a:pt x="3302" y="27051"/>
                  </a:cubicBezTo>
                  <a:cubicBezTo>
                    <a:pt x="5461" y="21717"/>
                    <a:pt x="8636" y="17018"/>
                    <a:pt x="12827" y="12827"/>
                  </a:cubicBezTo>
                  <a:cubicBezTo>
                    <a:pt x="17018" y="8636"/>
                    <a:pt x="21717" y="5588"/>
                    <a:pt x="27051" y="3302"/>
                  </a:cubicBezTo>
                  <a:cubicBezTo>
                    <a:pt x="32385" y="1016"/>
                    <a:pt x="37973" y="0"/>
                    <a:pt x="43815" y="0"/>
                  </a:cubicBezTo>
                  <a:cubicBezTo>
                    <a:pt x="49657" y="0"/>
                    <a:pt x="55245" y="1143"/>
                    <a:pt x="60579" y="3302"/>
                  </a:cubicBezTo>
                  <a:cubicBezTo>
                    <a:pt x="65913" y="5461"/>
                    <a:pt x="70612" y="8636"/>
                    <a:pt x="74803" y="12827"/>
                  </a:cubicBezTo>
                  <a:cubicBezTo>
                    <a:pt x="78994" y="17018"/>
                    <a:pt x="82042" y="21717"/>
                    <a:pt x="84328" y="27051"/>
                  </a:cubicBezTo>
                  <a:cubicBezTo>
                    <a:pt x="86614" y="32385"/>
                    <a:pt x="87630" y="37973"/>
                    <a:pt x="87630" y="43815"/>
                  </a:cubicBezTo>
                  <a:close/>
                </a:path>
              </a:pathLst>
            </a:custGeom>
            <a:solidFill>
              <a:srgbClr val="290606"/>
            </a:solidFill>
          </p:spPr>
        </p:sp>
      </p:grpSp>
      <p:sp>
        <p:nvSpPr>
          <p:cNvPr id="23" name="TextBox 23"/>
          <p:cNvSpPr txBox="1"/>
          <p:nvPr/>
        </p:nvSpPr>
        <p:spPr>
          <a:xfrm>
            <a:off x="10431932" y="2168452"/>
            <a:ext cx="4671270" cy="6294749"/>
          </a:xfrm>
          <a:prstGeom prst="rect">
            <a:avLst/>
          </a:prstGeom>
        </p:spPr>
        <p:txBody>
          <a:bodyPr lIns="0" tIns="0" rIns="0" bIns="0" rtlCol="0" anchor="t">
            <a:spAutoFit/>
          </a:bodyPr>
          <a:lstStyle/>
          <a:p>
            <a:pPr algn="l">
              <a:lnSpc>
                <a:spcPts val="4516"/>
              </a:lnSpc>
            </a:pPr>
            <a:r>
              <a:rPr lang="en-US" sz="2858" b="1">
                <a:solidFill>
                  <a:srgbClr val="290606"/>
                </a:solidFill>
                <a:latin typeface="Telegraf Medium"/>
                <a:ea typeface="Telegraf Medium"/>
                <a:cs typeface="Telegraf Medium"/>
                <a:sym typeface="Telegraf Medium"/>
              </a:rPr>
              <a:t>Introduction Problem Statement Proposed solution System Architecture Implementation workflow Tech Stack User Interfaces Future scope and further enhancements Conclusion Acknowledgement</a:t>
            </a:r>
          </a:p>
        </p:txBody>
      </p:sp>
      <p:sp>
        <p:nvSpPr>
          <p:cNvPr id="24" name="TextBox 24"/>
          <p:cNvSpPr txBox="1"/>
          <p:nvPr/>
        </p:nvSpPr>
        <p:spPr>
          <a:xfrm>
            <a:off x="9479099" y="768382"/>
            <a:ext cx="7935754" cy="1298534"/>
          </a:xfrm>
          <a:prstGeom prst="rect">
            <a:avLst/>
          </a:prstGeom>
        </p:spPr>
        <p:txBody>
          <a:bodyPr lIns="0" tIns="0" rIns="0" bIns="0" rtlCol="0" anchor="t">
            <a:spAutoFit/>
          </a:bodyPr>
          <a:lstStyle/>
          <a:p>
            <a:pPr algn="l">
              <a:lnSpc>
                <a:spcPts val="9799"/>
              </a:lnSpc>
            </a:pPr>
            <a:r>
              <a:rPr lang="en-US" sz="6999" spc="342">
                <a:solidFill>
                  <a:srgbClr val="290606"/>
                </a:solidFill>
                <a:latin typeface="Cheddar"/>
                <a:ea typeface="Cheddar"/>
                <a:cs typeface="Cheddar"/>
                <a:sym typeface="Cheddar"/>
              </a:rPr>
              <a:t>PRESENTATION OUTLINE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0" y="2276370"/>
            <a:ext cx="10899648" cy="3617243"/>
          </a:xfrm>
          <a:custGeom>
            <a:avLst/>
            <a:gdLst/>
            <a:ahLst/>
            <a:cxnLst/>
            <a:rect l="l" t="t" r="r" b="b"/>
            <a:pathLst>
              <a:path w="10899648" h="3617243">
                <a:moveTo>
                  <a:pt x="0" y="0"/>
                </a:moveTo>
                <a:lnTo>
                  <a:pt x="10899648" y="0"/>
                </a:lnTo>
                <a:lnTo>
                  <a:pt x="10899648" y="3617243"/>
                </a:lnTo>
                <a:lnTo>
                  <a:pt x="0" y="361724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1959438" y="2028825"/>
            <a:ext cx="5365261" cy="3727485"/>
          </a:xfrm>
          <a:custGeom>
            <a:avLst/>
            <a:gdLst/>
            <a:ahLst/>
            <a:cxnLst/>
            <a:rect l="l" t="t" r="r" b="b"/>
            <a:pathLst>
              <a:path w="5365261" h="3727485">
                <a:moveTo>
                  <a:pt x="0" y="0"/>
                </a:moveTo>
                <a:lnTo>
                  <a:pt x="5365261" y="0"/>
                </a:lnTo>
                <a:lnTo>
                  <a:pt x="5365261" y="3727485"/>
                </a:lnTo>
                <a:lnTo>
                  <a:pt x="0" y="37274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TextBox 4"/>
          <p:cNvSpPr txBox="1"/>
          <p:nvPr/>
        </p:nvSpPr>
        <p:spPr>
          <a:xfrm>
            <a:off x="1028700" y="1282732"/>
            <a:ext cx="4812954" cy="784184"/>
          </a:xfrm>
          <a:prstGeom prst="rect">
            <a:avLst/>
          </a:prstGeom>
        </p:spPr>
        <p:txBody>
          <a:bodyPr lIns="0" tIns="0" rIns="0" bIns="0" rtlCol="0" anchor="t">
            <a:spAutoFit/>
          </a:bodyPr>
          <a:lstStyle/>
          <a:p>
            <a:pPr algn="l">
              <a:lnSpc>
                <a:spcPts val="4346"/>
              </a:lnSpc>
            </a:pPr>
            <a:r>
              <a:rPr lang="en-US" sz="6999" spc="342">
                <a:solidFill>
                  <a:srgbClr val="290606"/>
                </a:solidFill>
                <a:latin typeface="Cheddar"/>
                <a:ea typeface="Cheddar"/>
                <a:cs typeface="Cheddar"/>
                <a:sym typeface="Cheddar"/>
              </a:rPr>
              <a:t>INTRODUCTION</a:t>
            </a:r>
          </a:p>
        </p:txBody>
      </p:sp>
      <p:sp>
        <p:nvSpPr>
          <p:cNvPr id="5" name="TextBox 5"/>
          <p:cNvSpPr txBox="1"/>
          <p:nvPr/>
        </p:nvSpPr>
        <p:spPr>
          <a:xfrm>
            <a:off x="1876711" y="1959473"/>
            <a:ext cx="98298" cy="843810"/>
          </a:xfrm>
          <a:prstGeom prst="rect">
            <a:avLst/>
          </a:prstGeom>
        </p:spPr>
        <p:txBody>
          <a:bodyPr lIns="0" tIns="0" rIns="0" bIns="0" rtlCol="0" anchor="t">
            <a:spAutoFit/>
          </a:bodyPr>
          <a:lstStyle/>
          <a:p>
            <a:pPr algn="l">
              <a:lnSpc>
                <a:spcPts val="7498"/>
              </a:lnSpc>
            </a:pPr>
            <a:r>
              <a:rPr lang="en-US" sz="2999" b="1">
                <a:solidFill>
                  <a:srgbClr val="FFFFFF"/>
                </a:solidFill>
                <a:latin typeface="Telegraf Bold"/>
                <a:ea typeface="Telegraf Bold"/>
                <a:cs typeface="Telegraf Bold"/>
                <a:sym typeface="Telegraf Bold"/>
              </a:rPr>
              <a:t> </a:t>
            </a:r>
          </a:p>
        </p:txBody>
      </p:sp>
      <p:sp>
        <p:nvSpPr>
          <p:cNvPr id="6" name="TextBox 6"/>
          <p:cNvSpPr txBox="1"/>
          <p:nvPr/>
        </p:nvSpPr>
        <p:spPr>
          <a:xfrm>
            <a:off x="285455" y="2330948"/>
            <a:ext cx="10215572" cy="472335"/>
          </a:xfrm>
          <a:prstGeom prst="rect">
            <a:avLst/>
          </a:prstGeom>
        </p:spPr>
        <p:txBody>
          <a:bodyPr lIns="0" tIns="0" rIns="0" bIns="0" rtlCol="0" anchor="t">
            <a:spAutoFit/>
          </a:bodyPr>
          <a:lstStyle/>
          <a:p>
            <a:pPr algn="l">
              <a:lnSpc>
                <a:spcPts val="3524"/>
              </a:lnSpc>
            </a:pPr>
            <a:r>
              <a:rPr lang="en-US" sz="2999" b="1" spc="146">
                <a:solidFill>
                  <a:srgbClr val="FFFFFF"/>
                </a:solidFill>
                <a:latin typeface="Telegraf Bold"/>
                <a:ea typeface="Telegraf Bold"/>
                <a:cs typeface="Telegraf Bold"/>
                <a:sym typeface="Telegraf Bold"/>
              </a:rPr>
              <a:t>Millionsofcitizens visit Seva Kendras centers to</a:t>
            </a:r>
          </a:p>
        </p:txBody>
      </p:sp>
      <p:sp>
        <p:nvSpPr>
          <p:cNvPr id="7" name="TextBox 7"/>
          <p:cNvSpPr txBox="1"/>
          <p:nvPr/>
        </p:nvSpPr>
        <p:spPr>
          <a:xfrm>
            <a:off x="285455" y="2778623"/>
            <a:ext cx="10467280" cy="3158385"/>
          </a:xfrm>
          <a:prstGeom prst="rect">
            <a:avLst/>
          </a:prstGeom>
        </p:spPr>
        <p:txBody>
          <a:bodyPr lIns="0" tIns="0" rIns="0" bIns="0" rtlCol="0" anchor="t">
            <a:spAutoFit/>
          </a:bodyPr>
          <a:lstStyle/>
          <a:p>
            <a:pPr algn="l">
              <a:lnSpc>
                <a:spcPts val="3524"/>
              </a:lnSpc>
            </a:pPr>
            <a:r>
              <a:rPr lang="en-US" sz="2999" b="1" spc="146">
                <a:solidFill>
                  <a:srgbClr val="FFFFFF"/>
                </a:solidFill>
                <a:latin typeface="Telegraf Bold"/>
                <a:ea typeface="Telegraf Bold"/>
                <a:cs typeface="Telegraf Bold"/>
                <a:sym typeface="Telegraf Bold"/>
              </a:rPr>
              <a:t>apply for essential services such as birth certificates, PAN cards, income certificates, and various welfare schemes. Although most citizens carry valid identification documents like Aadhaar, PAN, or voter IDs, the information printed on these documents must still be manually typed into multiple forms for each application.</a:t>
            </a:r>
          </a:p>
        </p:txBody>
      </p:sp>
      <p:sp>
        <p:nvSpPr>
          <p:cNvPr id="8" name="TextBox 8"/>
          <p:cNvSpPr txBox="1"/>
          <p:nvPr/>
        </p:nvSpPr>
        <p:spPr>
          <a:xfrm>
            <a:off x="852183" y="6506718"/>
            <a:ext cx="16519836" cy="2767965"/>
          </a:xfrm>
          <a:prstGeom prst="rect">
            <a:avLst/>
          </a:prstGeom>
        </p:spPr>
        <p:txBody>
          <a:bodyPr lIns="0" tIns="0" rIns="0" bIns="0" rtlCol="0" anchor="t">
            <a:spAutoFit/>
          </a:bodyPr>
          <a:lstStyle/>
          <a:p>
            <a:pPr algn="l">
              <a:lnSpc>
                <a:spcPts val="3600"/>
              </a:lnSpc>
            </a:pPr>
            <a:r>
              <a:rPr lang="en-US" sz="3000" spc="147">
                <a:solidFill>
                  <a:srgbClr val="290606"/>
                </a:solidFill>
                <a:latin typeface="Telegraf"/>
                <a:ea typeface="Telegraf"/>
                <a:cs typeface="Telegraf"/>
                <a:sym typeface="Telegraf"/>
              </a:rPr>
              <a:t>This project introduces an AI-Powered Form Filling Assistant, a web based system designed to automatically extract personal information from identity documents and intelligently populate multiple government forms within seconds. The solution leverages recent advancements in Optical Character Recognition (OCR), Natural Language Processing (NLP), and Large Language Models (LLMs) to deliver a fast, accurate, and scalable automation tool.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12072985" y="965197"/>
            <a:ext cx="5249818" cy="5537197"/>
          </a:xfrm>
          <a:custGeom>
            <a:avLst/>
            <a:gdLst/>
            <a:ahLst/>
            <a:cxnLst/>
            <a:rect l="l" t="t" r="r" b="b"/>
            <a:pathLst>
              <a:path w="5249818" h="5537197">
                <a:moveTo>
                  <a:pt x="0" y="0"/>
                </a:moveTo>
                <a:lnTo>
                  <a:pt x="5249818" y="0"/>
                </a:lnTo>
                <a:lnTo>
                  <a:pt x="5249818" y="5537197"/>
                </a:lnTo>
                <a:lnTo>
                  <a:pt x="0" y="553719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TextBox 3"/>
          <p:cNvSpPr txBox="1"/>
          <p:nvPr/>
        </p:nvSpPr>
        <p:spPr>
          <a:xfrm>
            <a:off x="1028700" y="2186016"/>
            <a:ext cx="10578675" cy="5842387"/>
          </a:xfrm>
          <a:prstGeom prst="rect">
            <a:avLst/>
          </a:prstGeom>
        </p:spPr>
        <p:txBody>
          <a:bodyPr lIns="0" tIns="0" rIns="0" bIns="0" rtlCol="0" anchor="t">
            <a:spAutoFit/>
          </a:bodyPr>
          <a:lstStyle/>
          <a:p>
            <a:pPr algn="just">
              <a:lnSpc>
                <a:spcPts val="9799"/>
              </a:lnSpc>
            </a:pPr>
            <a:r>
              <a:rPr lang="en-US" sz="6999" spc="342">
                <a:solidFill>
                  <a:srgbClr val="290606"/>
                </a:solidFill>
                <a:latin typeface="Cheddar"/>
                <a:ea typeface="Cheddar"/>
                <a:cs typeface="Cheddar"/>
                <a:sym typeface="Cheddar"/>
              </a:rPr>
              <a:t>PROBLEM STATEMENT</a:t>
            </a:r>
          </a:p>
          <a:p>
            <a:pPr algn="just">
              <a:lnSpc>
                <a:spcPts val="4147"/>
              </a:lnSpc>
            </a:pPr>
            <a:r>
              <a:rPr lang="en-US" sz="3496" spc="171">
                <a:solidFill>
                  <a:srgbClr val="290606"/>
                </a:solidFill>
                <a:latin typeface="Telegraf"/>
                <a:ea typeface="Telegraf"/>
                <a:cs typeface="Telegraf"/>
                <a:sym typeface="Telegraf"/>
              </a:rPr>
              <a:t>Citizens often need to fill in multiple government service forms at Seva Kendras (e.g., for certificates, licenses, and welfare schemes). This project aims to build an AI tool that auto-fills these forms based on uploaded documents (Aadhaar, PAN, voter ID, etc.), reducing manual effort and errors.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1028700" y="6354347"/>
            <a:ext cx="9385897" cy="2410016"/>
          </a:xfrm>
          <a:custGeom>
            <a:avLst/>
            <a:gdLst/>
            <a:ahLst/>
            <a:cxnLst/>
            <a:rect l="l" t="t" r="r" b="b"/>
            <a:pathLst>
              <a:path w="9385897" h="2410016">
                <a:moveTo>
                  <a:pt x="0" y="0"/>
                </a:moveTo>
                <a:lnTo>
                  <a:pt x="9385897" y="0"/>
                </a:lnTo>
                <a:lnTo>
                  <a:pt x="9385897" y="2410015"/>
                </a:lnTo>
                <a:lnTo>
                  <a:pt x="0" y="2410015"/>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028700" y="2361257"/>
            <a:ext cx="9384763" cy="3369564"/>
          </a:xfrm>
          <a:custGeom>
            <a:avLst/>
            <a:gdLst/>
            <a:ahLst/>
            <a:cxnLst/>
            <a:rect l="l" t="t" r="r" b="b"/>
            <a:pathLst>
              <a:path w="9384763" h="3369564">
                <a:moveTo>
                  <a:pt x="0" y="0"/>
                </a:moveTo>
                <a:lnTo>
                  <a:pt x="9384763" y="0"/>
                </a:lnTo>
                <a:lnTo>
                  <a:pt x="9384763" y="3369564"/>
                </a:lnTo>
                <a:lnTo>
                  <a:pt x="0" y="3369564"/>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11832355" y="1176776"/>
            <a:ext cx="5490448" cy="6696923"/>
          </a:xfrm>
          <a:custGeom>
            <a:avLst/>
            <a:gdLst/>
            <a:ahLst/>
            <a:cxnLst/>
            <a:rect l="l" t="t" r="r" b="b"/>
            <a:pathLst>
              <a:path w="5490448" h="6696923">
                <a:moveTo>
                  <a:pt x="0" y="0"/>
                </a:moveTo>
                <a:lnTo>
                  <a:pt x="5490448" y="0"/>
                </a:lnTo>
                <a:lnTo>
                  <a:pt x="5490448" y="6696922"/>
                </a:lnTo>
                <a:lnTo>
                  <a:pt x="0" y="669692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TextBox 5"/>
          <p:cNvSpPr txBox="1"/>
          <p:nvPr/>
        </p:nvSpPr>
        <p:spPr>
          <a:xfrm>
            <a:off x="1491110" y="6496841"/>
            <a:ext cx="8631631" cy="2139315"/>
          </a:xfrm>
          <a:prstGeom prst="rect">
            <a:avLst/>
          </a:prstGeom>
        </p:spPr>
        <p:txBody>
          <a:bodyPr lIns="0" tIns="0" rIns="0" bIns="0" rtlCol="0" anchor="t">
            <a:spAutoFit/>
          </a:bodyPr>
          <a:lstStyle/>
          <a:p>
            <a:pPr algn="ctr">
              <a:lnSpc>
                <a:spcPts val="4200"/>
              </a:lnSpc>
            </a:pPr>
            <a:r>
              <a:rPr lang="en-US" sz="3000" b="1">
                <a:solidFill>
                  <a:srgbClr val="FFFFFF"/>
                </a:solidFill>
                <a:latin typeface="Telegraf Bold"/>
                <a:ea typeface="Telegraf Bold"/>
                <a:cs typeface="Telegraf Bold"/>
                <a:sym typeface="Telegraf Bold"/>
              </a:rPr>
              <a:t>The system is designed as a web-based application with a clean separation between frontend, backend, and AI modules, ensuring scalability, modularity.</a:t>
            </a:r>
          </a:p>
        </p:txBody>
      </p:sp>
      <p:sp>
        <p:nvSpPr>
          <p:cNvPr id="6" name="TextBox 6"/>
          <p:cNvSpPr txBox="1"/>
          <p:nvPr/>
        </p:nvSpPr>
        <p:spPr>
          <a:xfrm>
            <a:off x="1243755" y="2446601"/>
            <a:ext cx="9136447" cy="3206115"/>
          </a:xfrm>
          <a:prstGeom prst="rect">
            <a:avLst/>
          </a:prstGeom>
        </p:spPr>
        <p:txBody>
          <a:bodyPr lIns="0" tIns="0" rIns="0" bIns="0" rtlCol="0" anchor="t">
            <a:spAutoFit/>
          </a:bodyPr>
          <a:lstStyle/>
          <a:p>
            <a:pPr algn="ctr">
              <a:lnSpc>
                <a:spcPts val="4200"/>
              </a:lnSpc>
            </a:pPr>
            <a:r>
              <a:rPr lang="en-US" sz="3000" b="1">
                <a:solidFill>
                  <a:srgbClr val="FFFFFF"/>
                </a:solidFill>
                <a:latin typeface="Telegraf Bold"/>
                <a:ea typeface="Telegraf Bold"/>
                <a:cs typeface="Telegraf Bold"/>
                <a:sym typeface="Telegraf Bold"/>
              </a:rPr>
              <a:t>The solution leverages the combined power of Optical Character Recognition (OCR), Large Language Models (LLMs), and intelligent field- mapping algorithms to transform a traditionally manual workflow into a fast, automated, and error-resistant process. </a:t>
            </a:r>
          </a:p>
        </p:txBody>
      </p:sp>
      <p:sp>
        <p:nvSpPr>
          <p:cNvPr id="7" name="TextBox 7"/>
          <p:cNvSpPr txBox="1"/>
          <p:nvPr/>
        </p:nvSpPr>
        <p:spPr>
          <a:xfrm>
            <a:off x="1028700" y="768382"/>
            <a:ext cx="6905701" cy="1298534"/>
          </a:xfrm>
          <a:prstGeom prst="rect">
            <a:avLst/>
          </a:prstGeom>
        </p:spPr>
        <p:txBody>
          <a:bodyPr lIns="0" tIns="0" rIns="0" bIns="0" rtlCol="0" anchor="t">
            <a:spAutoFit/>
          </a:bodyPr>
          <a:lstStyle/>
          <a:p>
            <a:pPr algn="l">
              <a:lnSpc>
                <a:spcPts val="9799"/>
              </a:lnSpc>
            </a:pPr>
            <a:r>
              <a:rPr lang="en-US" sz="6999" spc="342">
                <a:solidFill>
                  <a:srgbClr val="290606"/>
                </a:solidFill>
                <a:latin typeface="Cheddar"/>
                <a:ea typeface="Cheddar"/>
                <a:cs typeface="Cheddar"/>
                <a:sym typeface="Cheddar"/>
              </a:rPr>
              <a:t>PROPOSED SOLUTION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8985647" y="293865"/>
            <a:ext cx="7429500" cy="9696450"/>
          </a:xfrm>
          <a:custGeom>
            <a:avLst/>
            <a:gdLst/>
            <a:ahLst/>
            <a:cxnLst/>
            <a:rect l="l" t="t" r="r" b="b"/>
            <a:pathLst>
              <a:path w="7429500" h="9696450">
                <a:moveTo>
                  <a:pt x="0" y="0"/>
                </a:moveTo>
                <a:lnTo>
                  <a:pt x="7429500" y="0"/>
                </a:lnTo>
                <a:lnTo>
                  <a:pt x="7429500" y="9696450"/>
                </a:lnTo>
                <a:lnTo>
                  <a:pt x="0" y="9696450"/>
                </a:lnTo>
                <a:lnTo>
                  <a:pt x="0" y="0"/>
                </a:lnTo>
                <a:close/>
              </a:path>
            </a:pathLst>
          </a:custGeom>
          <a:blipFill>
            <a:blip r:embed="rId2"/>
            <a:stretch>
              <a:fillRect/>
            </a:stretch>
          </a:blipFill>
        </p:spPr>
      </p:sp>
      <p:sp>
        <p:nvSpPr>
          <p:cNvPr id="3" name="Freeform 3"/>
          <p:cNvSpPr/>
          <p:nvPr/>
        </p:nvSpPr>
        <p:spPr>
          <a:xfrm>
            <a:off x="2014347" y="2600001"/>
            <a:ext cx="3051019" cy="6745500"/>
          </a:xfrm>
          <a:custGeom>
            <a:avLst/>
            <a:gdLst/>
            <a:ahLst/>
            <a:cxnLst/>
            <a:rect l="l" t="t" r="r" b="b"/>
            <a:pathLst>
              <a:path w="3051019" h="6745500">
                <a:moveTo>
                  <a:pt x="0" y="0"/>
                </a:moveTo>
                <a:lnTo>
                  <a:pt x="3051019" y="0"/>
                </a:lnTo>
                <a:lnTo>
                  <a:pt x="3051019" y="6745500"/>
                </a:lnTo>
                <a:lnTo>
                  <a:pt x="0" y="674550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TextBox 4"/>
          <p:cNvSpPr txBox="1"/>
          <p:nvPr/>
        </p:nvSpPr>
        <p:spPr>
          <a:xfrm>
            <a:off x="509902" y="1339558"/>
            <a:ext cx="7921247" cy="1298534"/>
          </a:xfrm>
          <a:prstGeom prst="rect">
            <a:avLst/>
          </a:prstGeom>
        </p:spPr>
        <p:txBody>
          <a:bodyPr lIns="0" tIns="0" rIns="0" bIns="0" rtlCol="0" anchor="t">
            <a:spAutoFit/>
          </a:bodyPr>
          <a:lstStyle/>
          <a:p>
            <a:pPr algn="l">
              <a:lnSpc>
                <a:spcPts val="9799"/>
              </a:lnSpc>
            </a:pPr>
            <a:r>
              <a:rPr lang="en-US" sz="6999" spc="342">
                <a:solidFill>
                  <a:srgbClr val="290606"/>
                </a:solidFill>
                <a:latin typeface="Cheddar"/>
                <a:ea typeface="Cheddar"/>
                <a:cs typeface="Cheddar"/>
                <a:sym typeface="Cheddar"/>
              </a:rPr>
              <a:t>SYSTEM 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1448459" y="1174241"/>
            <a:ext cx="15391082" cy="8849872"/>
          </a:xfrm>
          <a:custGeom>
            <a:avLst/>
            <a:gdLst/>
            <a:ahLst/>
            <a:cxnLst/>
            <a:rect l="l" t="t" r="r" b="b"/>
            <a:pathLst>
              <a:path w="15391082" h="8849872">
                <a:moveTo>
                  <a:pt x="0" y="0"/>
                </a:moveTo>
                <a:lnTo>
                  <a:pt x="15391082" y="0"/>
                </a:lnTo>
                <a:lnTo>
                  <a:pt x="15391082" y="8849873"/>
                </a:lnTo>
                <a:lnTo>
                  <a:pt x="0" y="8849873"/>
                </a:lnTo>
                <a:lnTo>
                  <a:pt x="0" y="0"/>
                </a:lnTo>
                <a:close/>
              </a:path>
            </a:pathLst>
          </a:custGeom>
          <a:blipFill>
            <a:blip r:embed="rId2"/>
            <a:stretch>
              <a:fillRect/>
            </a:stretch>
          </a:blipFill>
        </p:spPr>
      </p:sp>
      <p:sp>
        <p:nvSpPr>
          <p:cNvPr id="3" name="TextBox 3"/>
          <p:cNvSpPr txBox="1"/>
          <p:nvPr/>
        </p:nvSpPr>
        <p:spPr>
          <a:xfrm>
            <a:off x="7256740" y="-162440"/>
            <a:ext cx="3774519" cy="1336681"/>
          </a:xfrm>
          <a:prstGeom prst="rect">
            <a:avLst/>
          </a:prstGeom>
        </p:spPr>
        <p:txBody>
          <a:bodyPr lIns="0" tIns="0" rIns="0" bIns="0" rtlCol="0" anchor="t">
            <a:spAutoFit/>
          </a:bodyPr>
          <a:lstStyle/>
          <a:p>
            <a:pPr algn="l">
              <a:lnSpc>
                <a:spcPts val="9799"/>
              </a:lnSpc>
            </a:pPr>
            <a:r>
              <a:rPr lang="en-US" sz="6999" spc="342">
                <a:solidFill>
                  <a:srgbClr val="290606"/>
                </a:solidFill>
                <a:latin typeface="Cheddar"/>
                <a:ea typeface="Cheddar"/>
                <a:cs typeface="Cheddar"/>
                <a:sym typeface="Cheddar"/>
              </a:rPr>
              <a:t>Workflow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335861" y="2384927"/>
            <a:ext cx="5514975" cy="5514975"/>
          </a:xfrm>
          <a:custGeom>
            <a:avLst/>
            <a:gdLst/>
            <a:ahLst/>
            <a:cxnLst/>
            <a:rect l="l" t="t" r="r" b="b"/>
            <a:pathLst>
              <a:path w="5514975" h="5514975">
                <a:moveTo>
                  <a:pt x="0" y="0"/>
                </a:moveTo>
                <a:lnTo>
                  <a:pt x="5514975" y="0"/>
                </a:lnTo>
                <a:lnTo>
                  <a:pt x="5514975" y="5514975"/>
                </a:lnTo>
                <a:lnTo>
                  <a:pt x="0" y="5514975"/>
                </a:lnTo>
                <a:lnTo>
                  <a:pt x="0" y="0"/>
                </a:lnTo>
                <a:close/>
              </a:path>
            </a:pathLst>
          </a:custGeom>
          <a:blipFill>
            <a:blip r:embed="rId2"/>
            <a:stretch>
              <a:fillRect/>
            </a:stretch>
          </a:blipFill>
        </p:spPr>
      </p:sp>
      <p:sp>
        <p:nvSpPr>
          <p:cNvPr id="3" name="Freeform 3"/>
          <p:cNvSpPr/>
          <p:nvPr/>
        </p:nvSpPr>
        <p:spPr>
          <a:xfrm>
            <a:off x="8945099" y="1983038"/>
            <a:ext cx="8172469" cy="803786"/>
          </a:xfrm>
          <a:custGeom>
            <a:avLst/>
            <a:gdLst/>
            <a:ahLst/>
            <a:cxnLst/>
            <a:rect l="l" t="t" r="r" b="b"/>
            <a:pathLst>
              <a:path w="8172469" h="803786">
                <a:moveTo>
                  <a:pt x="0" y="0"/>
                </a:moveTo>
                <a:lnTo>
                  <a:pt x="8172469" y="0"/>
                </a:lnTo>
                <a:lnTo>
                  <a:pt x="8172469" y="803786"/>
                </a:lnTo>
                <a:lnTo>
                  <a:pt x="0" y="803786"/>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Freeform 4"/>
          <p:cNvSpPr/>
          <p:nvPr/>
        </p:nvSpPr>
        <p:spPr>
          <a:xfrm>
            <a:off x="8945099" y="3281791"/>
            <a:ext cx="8172469" cy="803786"/>
          </a:xfrm>
          <a:custGeom>
            <a:avLst/>
            <a:gdLst/>
            <a:ahLst/>
            <a:cxnLst/>
            <a:rect l="l" t="t" r="r" b="b"/>
            <a:pathLst>
              <a:path w="8172469" h="803786">
                <a:moveTo>
                  <a:pt x="0" y="0"/>
                </a:moveTo>
                <a:lnTo>
                  <a:pt x="8172469" y="0"/>
                </a:lnTo>
                <a:lnTo>
                  <a:pt x="8172469" y="803786"/>
                </a:lnTo>
                <a:lnTo>
                  <a:pt x="0" y="80378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5" name="Freeform 5"/>
          <p:cNvSpPr/>
          <p:nvPr/>
        </p:nvSpPr>
        <p:spPr>
          <a:xfrm>
            <a:off x="9087545" y="4638027"/>
            <a:ext cx="8172841" cy="803786"/>
          </a:xfrm>
          <a:custGeom>
            <a:avLst/>
            <a:gdLst/>
            <a:ahLst/>
            <a:cxnLst/>
            <a:rect l="l" t="t" r="r" b="b"/>
            <a:pathLst>
              <a:path w="8172841" h="803786">
                <a:moveTo>
                  <a:pt x="0" y="0"/>
                </a:moveTo>
                <a:lnTo>
                  <a:pt x="8172841" y="0"/>
                </a:lnTo>
                <a:lnTo>
                  <a:pt x="8172841" y="803786"/>
                </a:lnTo>
                <a:lnTo>
                  <a:pt x="0" y="803786"/>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6" name="Freeform 6"/>
          <p:cNvSpPr/>
          <p:nvPr/>
        </p:nvSpPr>
        <p:spPr>
          <a:xfrm>
            <a:off x="9087545" y="5965679"/>
            <a:ext cx="8172841" cy="803786"/>
          </a:xfrm>
          <a:custGeom>
            <a:avLst/>
            <a:gdLst/>
            <a:ahLst/>
            <a:cxnLst/>
            <a:rect l="l" t="t" r="r" b="b"/>
            <a:pathLst>
              <a:path w="8172841" h="803786">
                <a:moveTo>
                  <a:pt x="0" y="0"/>
                </a:moveTo>
                <a:lnTo>
                  <a:pt x="8172841" y="0"/>
                </a:lnTo>
                <a:lnTo>
                  <a:pt x="8172841" y="803786"/>
                </a:lnTo>
                <a:lnTo>
                  <a:pt x="0" y="803786"/>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7" name="Freeform 7"/>
          <p:cNvSpPr/>
          <p:nvPr/>
        </p:nvSpPr>
        <p:spPr>
          <a:xfrm>
            <a:off x="9087545" y="7264765"/>
            <a:ext cx="8172841" cy="803786"/>
          </a:xfrm>
          <a:custGeom>
            <a:avLst/>
            <a:gdLst/>
            <a:ahLst/>
            <a:cxnLst/>
            <a:rect l="l" t="t" r="r" b="b"/>
            <a:pathLst>
              <a:path w="8172841" h="803786">
                <a:moveTo>
                  <a:pt x="0" y="0"/>
                </a:moveTo>
                <a:lnTo>
                  <a:pt x="8172841" y="0"/>
                </a:lnTo>
                <a:lnTo>
                  <a:pt x="8172841" y="803786"/>
                </a:lnTo>
                <a:lnTo>
                  <a:pt x="0" y="803786"/>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8" name="Freeform 8"/>
          <p:cNvSpPr/>
          <p:nvPr/>
        </p:nvSpPr>
        <p:spPr>
          <a:xfrm>
            <a:off x="9087545" y="8621001"/>
            <a:ext cx="8172841" cy="803786"/>
          </a:xfrm>
          <a:custGeom>
            <a:avLst/>
            <a:gdLst/>
            <a:ahLst/>
            <a:cxnLst/>
            <a:rect l="l" t="t" r="r" b="b"/>
            <a:pathLst>
              <a:path w="8172841" h="803786">
                <a:moveTo>
                  <a:pt x="0" y="0"/>
                </a:moveTo>
                <a:lnTo>
                  <a:pt x="8172841" y="0"/>
                </a:lnTo>
                <a:lnTo>
                  <a:pt x="8172841" y="803786"/>
                </a:lnTo>
                <a:lnTo>
                  <a:pt x="0" y="803786"/>
                </a:lnTo>
                <a:lnTo>
                  <a:pt x="0" y="0"/>
                </a:lnTo>
                <a:close/>
              </a:path>
            </a:pathLst>
          </a:custGeom>
          <a:blipFill>
            <a:blip r:embed="rId11">
              <a:extLst>
                <a:ext uri="{96DAC541-7B7A-43D3-8B79-37D633B846F1}">
                  <asvg:svgBlip xmlns:asvg="http://schemas.microsoft.com/office/drawing/2016/SVG/main" r:embed="rId13"/>
                </a:ext>
              </a:extLst>
            </a:blip>
            <a:stretch>
              <a:fillRect/>
            </a:stretch>
          </a:blipFill>
        </p:spPr>
      </p:sp>
      <p:sp>
        <p:nvSpPr>
          <p:cNvPr id="9" name="Freeform 9"/>
          <p:cNvSpPr/>
          <p:nvPr/>
        </p:nvSpPr>
        <p:spPr>
          <a:xfrm>
            <a:off x="12378957" y="2649426"/>
            <a:ext cx="485775" cy="781050"/>
          </a:xfrm>
          <a:custGeom>
            <a:avLst/>
            <a:gdLst/>
            <a:ahLst/>
            <a:cxnLst/>
            <a:rect l="l" t="t" r="r" b="b"/>
            <a:pathLst>
              <a:path w="485775" h="781050">
                <a:moveTo>
                  <a:pt x="0" y="0"/>
                </a:moveTo>
                <a:lnTo>
                  <a:pt x="485775" y="0"/>
                </a:lnTo>
                <a:lnTo>
                  <a:pt x="485775" y="781050"/>
                </a:lnTo>
                <a:lnTo>
                  <a:pt x="0" y="781050"/>
                </a:lnTo>
                <a:lnTo>
                  <a:pt x="0" y="0"/>
                </a:lnTo>
                <a:close/>
              </a:path>
            </a:pathLst>
          </a:custGeom>
          <a:blipFill>
            <a:blip r:embed="rId14"/>
            <a:stretch>
              <a:fillRect/>
            </a:stretch>
          </a:blipFill>
        </p:spPr>
      </p:sp>
      <p:sp>
        <p:nvSpPr>
          <p:cNvPr id="10" name="Freeform 10"/>
          <p:cNvSpPr/>
          <p:nvPr/>
        </p:nvSpPr>
        <p:spPr>
          <a:xfrm>
            <a:off x="12378957" y="3959257"/>
            <a:ext cx="485775" cy="781050"/>
          </a:xfrm>
          <a:custGeom>
            <a:avLst/>
            <a:gdLst/>
            <a:ahLst/>
            <a:cxnLst/>
            <a:rect l="l" t="t" r="r" b="b"/>
            <a:pathLst>
              <a:path w="485775" h="781050">
                <a:moveTo>
                  <a:pt x="0" y="0"/>
                </a:moveTo>
                <a:lnTo>
                  <a:pt x="485775" y="0"/>
                </a:lnTo>
                <a:lnTo>
                  <a:pt x="485775" y="781050"/>
                </a:lnTo>
                <a:lnTo>
                  <a:pt x="0" y="781050"/>
                </a:lnTo>
                <a:lnTo>
                  <a:pt x="0" y="0"/>
                </a:lnTo>
                <a:close/>
              </a:path>
            </a:pathLst>
          </a:custGeom>
          <a:blipFill>
            <a:blip r:embed="rId14"/>
            <a:stretch>
              <a:fillRect/>
            </a:stretch>
          </a:blipFill>
        </p:spPr>
      </p:sp>
      <p:sp>
        <p:nvSpPr>
          <p:cNvPr id="11" name="Freeform 11"/>
          <p:cNvSpPr/>
          <p:nvPr/>
        </p:nvSpPr>
        <p:spPr>
          <a:xfrm>
            <a:off x="12378957" y="5265487"/>
            <a:ext cx="485775" cy="781050"/>
          </a:xfrm>
          <a:custGeom>
            <a:avLst/>
            <a:gdLst/>
            <a:ahLst/>
            <a:cxnLst/>
            <a:rect l="l" t="t" r="r" b="b"/>
            <a:pathLst>
              <a:path w="485775" h="781050">
                <a:moveTo>
                  <a:pt x="0" y="0"/>
                </a:moveTo>
                <a:lnTo>
                  <a:pt x="485775" y="0"/>
                </a:lnTo>
                <a:lnTo>
                  <a:pt x="485775" y="781050"/>
                </a:lnTo>
                <a:lnTo>
                  <a:pt x="0" y="781050"/>
                </a:lnTo>
                <a:lnTo>
                  <a:pt x="0" y="0"/>
                </a:lnTo>
                <a:close/>
              </a:path>
            </a:pathLst>
          </a:custGeom>
          <a:blipFill>
            <a:blip r:embed="rId14"/>
            <a:stretch>
              <a:fillRect/>
            </a:stretch>
          </a:blipFill>
        </p:spPr>
      </p:sp>
      <p:sp>
        <p:nvSpPr>
          <p:cNvPr id="12" name="Freeform 12"/>
          <p:cNvSpPr/>
          <p:nvPr/>
        </p:nvSpPr>
        <p:spPr>
          <a:xfrm>
            <a:off x="12378957" y="6543132"/>
            <a:ext cx="485775" cy="781050"/>
          </a:xfrm>
          <a:custGeom>
            <a:avLst/>
            <a:gdLst/>
            <a:ahLst/>
            <a:cxnLst/>
            <a:rect l="l" t="t" r="r" b="b"/>
            <a:pathLst>
              <a:path w="485775" h="781050">
                <a:moveTo>
                  <a:pt x="0" y="0"/>
                </a:moveTo>
                <a:lnTo>
                  <a:pt x="485775" y="0"/>
                </a:lnTo>
                <a:lnTo>
                  <a:pt x="485775" y="781050"/>
                </a:lnTo>
                <a:lnTo>
                  <a:pt x="0" y="781050"/>
                </a:lnTo>
                <a:lnTo>
                  <a:pt x="0" y="0"/>
                </a:lnTo>
                <a:close/>
              </a:path>
            </a:pathLst>
          </a:custGeom>
          <a:blipFill>
            <a:blip r:embed="rId14"/>
            <a:stretch>
              <a:fillRect/>
            </a:stretch>
          </a:blipFill>
        </p:spPr>
      </p:sp>
      <p:sp>
        <p:nvSpPr>
          <p:cNvPr id="13" name="Freeform 13"/>
          <p:cNvSpPr/>
          <p:nvPr/>
        </p:nvSpPr>
        <p:spPr>
          <a:xfrm>
            <a:off x="12378957" y="7902073"/>
            <a:ext cx="485775" cy="781050"/>
          </a:xfrm>
          <a:custGeom>
            <a:avLst/>
            <a:gdLst/>
            <a:ahLst/>
            <a:cxnLst/>
            <a:rect l="l" t="t" r="r" b="b"/>
            <a:pathLst>
              <a:path w="485775" h="781050">
                <a:moveTo>
                  <a:pt x="0" y="0"/>
                </a:moveTo>
                <a:lnTo>
                  <a:pt x="485775" y="0"/>
                </a:lnTo>
                <a:lnTo>
                  <a:pt x="485775" y="781050"/>
                </a:lnTo>
                <a:lnTo>
                  <a:pt x="0" y="781050"/>
                </a:lnTo>
                <a:lnTo>
                  <a:pt x="0" y="0"/>
                </a:lnTo>
                <a:close/>
              </a:path>
            </a:pathLst>
          </a:custGeom>
          <a:blipFill>
            <a:blip r:embed="rId14"/>
            <a:stretch>
              <a:fillRect/>
            </a:stretch>
          </a:blipFill>
        </p:spPr>
      </p:sp>
      <p:sp>
        <p:nvSpPr>
          <p:cNvPr id="14" name="TextBox 14"/>
          <p:cNvSpPr txBox="1"/>
          <p:nvPr/>
        </p:nvSpPr>
        <p:spPr>
          <a:xfrm>
            <a:off x="1028700" y="1197007"/>
            <a:ext cx="10078374" cy="869909"/>
          </a:xfrm>
          <a:prstGeom prst="rect">
            <a:avLst/>
          </a:prstGeom>
        </p:spPr>
        <p:txBody>
          <a:bodyPr lIns="0" tIns="0" rIns="0" bIns="0" rtlCol="0" anchor="t">
            <a:spAutoFit/>
          </a:bodyPr>
          <a:lstStyle/>
          <a:p>
            <a:pPr algn="l">
              <a:lnSpc>
                <a:spcPts val="5256"/>
              </a:lnSpc>
            </a:pPr>
            <a:r>
              <a:rPr lang="en-US" sz="6999" spc="342">
                <a:solidFill>
                  <a:srgbClr val="290606"/>
                </a:solidFill>
                <a:latin typeface="Cheddar"/>
                <a:ea typeface="Cheddar"/>
                <a:cs typeface="Cheddar"/>
                <a:sym typeface="Cheddar"/>
              </a:rPr>
              <a:t>IMPLEMENTATION WORKFLOW</a:t>
            </a:r>
          </a:p>
        </p:txBody>
      </p:sp>
      <p:sp>
        <p:nvSpPr>
          <p:cNvPr id="15" name="TextBox 15"/>
          <p:cNvSpPr txBox="1"/>
          <p:nvPr/>
        </p:nvSpPr>
        <p:spPr>
          <a:xfrm>
            <a:off x="11418846" y="1801682"/>
            <a:ext cx="98317" cy="853440"/>
          </a:xfrm>
          <a:prstGeom prst="rect">
            <a:avLst/>
          </a:prstGeom>
        </p:spPr>
        <p:txBody>
          <a:bodyPr lIns="0" tIns="0" rIns="0" bIns="0" rtlCol="0" anchor="t">
            <a:spAutoFit/>
          </a:bodyPr>
          <a:lstStyle/>
          <a:p>
            <a:pPr algn="l">
              <a:lnSpc>
                <a:spcPts val="7500"/>
              </a:lnSpc>
            </a:pPr>
            <a:r>
              <a:rPr lang="en-US" sz="3000" b="1">
                <a:solidFill>
                  <a:srgbClr val="FFFFFF"/>
                </a:solidFill>
                <a:latin typeface="Telegraf Bold"/>
                <a:ea typeface="Telegraf Bold"/>
                <a:cs typeface="Telegraf Bold"/>
                <a:sym typeface="Telegraf Bold"/>
              </a:rPr>
              <a:t> </a:t>
            </a:r>
          </a:p>
        </p:txBody>
      </p:sp>
      <p:sp>
        <p:nvSpPr>
          <p:cNvPr id="16" name="TextBox 16"/>
          <p:cNvSpPr txBox="1"/>
          <p:nvPr/>
        </p:nvSpPr>
        <p:spPr>
          <a:xfrm>
            <a:off x="11357896" y="3414760"/>
            <a:ext cx="3412855" cy="539115"/>
          </a:xfrm>
          <a:prstGeom prst="rect">
            <a:avLst/>
          </a:prstGeom>
        </p:spPr>
        <p:txBody>
          <a:bodyPr lIns="0" tIns="0" rIns="0" bIns="0" rtlCol="0" anchor="t">
            <a:spAutoFit/>
          </a:bodyPr>
          <a:lstStyle/>
          <a:p>
            <a:pPr algn="l">
              <a:lnSpc>
                <a:spcPts val="4200"/>
              </a:lnSpc>
            </a:pPr>
            <a:r>
              <a:rPr lang="en-US" sz="3000" b="1">
                <a:solidFill>
                  <a:srgbClr val="FFFFFF"/>
                </a:solidFill>
                <a:latin typeface="Telegraf Bold"/>
                <a:ea typeface="Telegraf Bold"/>
                <a:cs typeface="Telegraf Bold"/>
                <a:sym typeface="Telegraf Bold"/>
              </a:rPr>
              <a:t>2. Pre-Processing</a:t>
            </a:r>
          </a:p>
        </p:txBody>
      </p:sp>
      <p:sp>
        <p:nvSpPr>
          <p:cNvPr id="17" name="TextBox 17"/>
          <p:cNvSpPr txBox="1"/>
          <p:nvPr/>
        </p:nvSpPr>
        <p:spPr>
          <a:xfrm>
            <a:off x="11149098" y="2116007"/>
            <a:ext cx="3838785" cy="539115"/>
          </a:xfrm>
          <a:prstGeom prst="rect">
            <a:avLst/>
          </a:prstGeom>
        </p:spPr>
        <p:txBody>
          <a:bodyPr lIns="0" tIns="0" rIns="0" bIns="0" rtlCol="0" anchor="t">
            <a:spAutoFit/>
          </a:bodyPr>
          <a:lstStyle/>
          <a:p>
            <a:pPr algn="l">
              <a:lnSpc>
                <a:spcPts val="4200"/>
              </a:lnSpc>
            </a:pPr>
            <a:r>
              <a:rPr lang="en-US" sz="3000" b="1">
                <a:solidFill>
                  <a:srgbClr val="FFFFFF"/>
                </a:solidFill>
                <a:latin typeface="Telegraf Bold"/>
                <a:ea typeface="Telegraf Bold"/>
                <a:cs typeface="Telegraf Bold"/>
                <a:sym typeface="Telegraf Bold"/>
              </a:rPr>
              <a:t>1.Document Upload</a:t>
            </a:r>
          </a:p>
        </p:txBody>
      </p:sp>
      <p:sp>
        <p:nvSpPr>
          <p:cNvPr id="18" name="TextBox 18"/>
          <p:cNvSpPr txBox="1"/>
          <p:nvPr/>
        </p:nvSpPr>
        <p:spPr>
          <a:xfrm>
            <a:off x="11031388" y="4770996"/>
            <a:ext cx="4369641" cy="539115"/>
          </a:xfrm>
          <a:prstGeom prst="rect">
            <a:avLst/>
          </a:prstGeom>
        </p:spPr>
        <p:txBody>
          <a:bodyPr lIns="0" tIns="0" rIns="0" bIns="0" rtlCol="0" anchor="t">
            <a:spAutoFit/>
          </a:bodyPr>
          <a:lstStyle/>
          <a:p>
            <a:pPr algn="l">
              <a:lnSpc>
                <a:spcPts val="4200"/>
              </a:lnSpc>
            </a:pPr>
            <a:r>
              <a:rPr lang="en-US" sz="3000" b="1">
                <a:solidFill>
                  <a:srgbClr val="FFFFFF"/>
                </a:solidFill>
                <a:latin typeface="Telegraf Bold"/>
                <a:ea typeface="Telegraf Bold"/>
                <a:cs typeface="Telegraf Bold"/>
                <a:sym typeface="Telegraf Bold"/>
              </a:rPr>
              <a:t>3. OCR Text Extraction</a:t>
            </a:r>
          </a:p>
        </p:txBody>
      </p:sp>
      <p:sp>
        <p:nvSpPr>
          <p:cNvPr id="19" name="TextBox 19"/>
          <p:cNvSpPr txBox="1"/>
          <p:nvPr/>
        </p:nvSpPr>
        <p:spPr>
          <a:xfrm>
            <a:off x="10891485" y="7397734"/>
            <a:ext cx="4654887" cy="539115"/>
          </a:xfrm>
          <a:prstGeom prst="rect">
            <a:avLst/>
          </a:prstGeom>
        </p:spPr>
        <p:txBody>
          <a:bodyPr lIns="0" tIns="0" rIns="0" bIns="0" rtlCol="0" anchor="t">
            <a:spAutoFit/>
          </a:bodyPr>
          <a:lstStyle/>
          <a:p>
            <a:pPr algn="l">
              <a:lnSpc>
                <a:spcPts val="4200"/>
              </a:lnSpc>
            </a:pPr>
            <a:r>
              <a:rPr lang="en-US" sz="3000" b="1">
                <a:solidFill>
                  <a:srgbClr val="FFFFFF"/>
                </a:solidFill>
                <a:latin typeface="Telegraf Bold"/>
                <a:ea typeface="Telegraf Bold"/>
                <a:cs typeface="Telegraf Bold"/>
                <a:sym typeface="Telegraf Bold"/>
              </a:rPr>
              <a:t>5. Form Mapping Engine</a:t>
            </a:r>
          </a:p>
        </p:txBody>
      </p:sp>
      <p:sp>
        <p:nvSpPr>
          <p:cNvPr id="20" name="TextBox 20"/>
          <p:cNvSpPr txBox="1"/>
          <p:nvPr/>
        </p:nvSpPr>
        <p:spPr>
          <a:xfrm>
            <a:off x="10534298" y="8753970"/>
            <a:ext cx="5383549" cy="539115"/>
          </a:xfrm>
          <a:prstGeom prst="rect">
            <a:avLst/>
          </a:prstGeom>
        </p:spPr>
        <p:txBody>
          <a:bodyPr lIns="0" tIns="0" rIns="0" bIns="0" rtlCol="0" anchor="t">
            <a:spAutoFit/>
          </a:bodyPr>
          <a:lstStyle/>
          <a:p>
            <a:pPr algn="l">
              <a:lnSpc>
                <a:spcPts val="4200"/>
              </a:lnSpc>
            </a:pPr>
            <a:r>
              <a:rPr lang="en-US" sz="3000" b="1">
                <a:solidFill>
                  <a:srgbClr val="FFFFFF"/>
                </a:solidFill>
                <a:latin typeface="Telegraf Bold"/>
                <a:ea typeface="Telegraf Bold"/>
                <a:cs typeface="Telegraf Bold"/>
                <a:sym typeface="Telegraf Bold"/>
              </a:rPr>
              <a:t>6. Review / Edit &amp; Download</a:t>
            </a:r>
          </a:p>
        </p:txBody>
      </p:sp>
      <p:sp>
        <p:nvSpPr>
          <p:cNvPr id="21" name="TextBox 21"/>
          <p:cNvSpPr txBox="1"/>
          <p:nvPr/>
        </p:nvSpPr>
        <p:spPr>
          <a:xfrm>
            <a:off x="10491140" y="6098648"/>
            <a:ext cx="5471770" cy="539115"/>
          </a:xfrm>
          <a:prstGeom prst="rect">
            <a:avLst/>
          </a:prstGeom>
        </p:spPr>
        <p:txBody>
          <a:bodyPr lIns="0" tIns="0" rIns="0" bIns="0" rtlCol="0" anchor="t">
            <a:spAutoFit/>
          </a:bodyPr>
          <a:lstStyle/>
          <a:p>
            <a:pPr algn="l">
              <a:lnSpc>
                <a:spcPts val="4200"/>
              </a:lnSpc>
            </a:pPr>
            <a:r>
              <a:rPr lang="en-US" sz="3000" b="1">
                <a:solidFill>
                  <a:srgbClr val="FFFFFF"/>
                </a:solidFill>
                <a:latin typeface="Telegraf Bold"/>
                <a:ea typeface="Telegraf Bold"/>
                <a:cs typeface="Telegraf Bold"/>
                <a:sym typeface="Telegraf Bold"/>
              </a:rPr>
              <a:t>4. AI Entity Extraction (LLM)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5136604" y="2501932"/>
            <a:ext cx="11944350" cy="5743575"/>
          </a:xfrm>
          <a:custGeom>
            <a:avLst/>
            <a:gdLst/>
            <a:ahLst/>
            <a:cxnLst/>
            <a:rect l="l" t="t" r="r" b="b"/>
            <a:pathLst>
              <a:path w="11944350" h="5743575">
                <a:moveTo>
                  <a:pt x="0" y="0"/>
                </a:moveTo>
                <a:lnTo>
                  <a:pt x="11944350" y="0"/>
                </a:lnTo>
                <a:lnTo>
                  <a:pt x="11944350" y="5743575"/>
                </a:lnTo>
                <a:lnTo>
                  <a:pt x="0" y="5743575"/>
                </a:lnTo>
                <a:lnTo>
                  <a:pt x="0" y="0"/>
                </a:lnTo>
                <a:close/>
              </a:path>
            </a:pathLst>
          </a:custGeom>
          <a:blipFill>
            <a:blip r:embed="rId2"/>
            <a:stretch>
              <a:fillRect/>
            </a:stretch>
          </a:blipFill>
        </p:spPr>
      </p:sp>
      <p:sp>
        <p:nvSpPr>
          <p:cNvPr id="3" name="Freeform 3"/>
          <p:cNvSpPr/>
          <p:nvPr/>
        </p:nvSpPr>
        <p:spPr>
          <a:xfrm>
            <a:off x="289722" y="2501932"/>
            <a:ext cx="3886200" cy="5838825"/>
          </a:xfrm>
          <a:custGeom>
            <a:avLst/>
            <a:gdLst/>
            <a:ahLst/>
            <a:cxnLst/>
            <a:rect l="l" t="t" r="r" b="b"/>
            <a:pathLst>
              <a:path w="3886200" h="5838825">
                <a:moveTo>
                  <a:pt x="0" y="0"/>
                </a:moveTo>
                <a:lnTo>
                  <a:pt x="3886200" y="0"/>
                </a:lnTo>
                <a:lnTo>
                  <a:pt x="3886200" y="5838825"/>
                </a:lnTo>
                <a:lnTo>
                  <a:pt x="0" y="5838825"/>
                </a:lnTo>
                <a:lnTo>
                  <a:pt x="0" y="0"/>
                </a:lnTo>
                <a:close/>
              </a:path>
            </a:pathLst>
          </a:custGeom>
          <a:blipFill>
            <a:blip r:embed="rId3"/>
            <a:stretch>
              <a:fillRect/>
            </a:stretch>
          </a:blipFill>
        </p:spPr>
      </p:sp>
      <p:sp>
        <p:nvSpPr>
          <p:cNvPr id="4" name="TextBox 4"/>
          <p:cNvSpPr txBox="1"/>
          <p:nvPr/>
        </p:nvSpPr>
        <p:spPr>
          <a:xfrm>
            <a:off x="804910" y="862841"/>
            <a:ext cx="6669948" cy="1298534"/>
          </a:xfrm>
          <a:prstGeom prst="rect">
            <a:avLst/>
          </a:prstGeom>
        </p:spPr>
        <p:txBody>
          <a:bodyPr lIns="0" tIns="0" rIns="0" bIns="0" rtlCol="0" anchor="t">
            <a:spAutoFit/>
          </a:bodyPr>
          <a:lstStyle/>
          <a:p>
            <a:pPr algn="l">
              <a:lnSpc>
                <a:spcPts val="9799"/>
              </a:lnSpc>
            </a:pPr>
            <a:r>
              <a:rPr lang="en-US" sz="6999" spc="342">
                <a:solidFill>
                  <a:srgbClr val="290606"/>
                </a:solidFill>
                <a:latin typeface="Cheddar"/>
                <a:ea typeface="Cheddar"/>
                <a:cs typeface="Cheddar"/>
                <a:sym typeface="Cheddar"/>
              </a:rPr>
              <a:t>TECHNOLOGY STACK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2588638" y="2248833"/>
            <a:ext cx="13106400" cy="7324725"/>
          </a:xfrm>
          <a:custGeom>
            <a:avLst/>
            <a:gdLst/>
            <a:ahLst/>
            <a:cxnLst/>
            <a:rect l="l" t="t" r="r" b="b"/>
            <a:pathLst>
              <a:path w="13106400" h="7324725">
                <a:moveTo>
                  <a:pt x="0" y="0"/>
                </a:moveTo>
                <a:lnTo>
                  <a:pt x="13106400" y="0"/>
                </a:lnTo>
                <a:lnTo>
                  <a:pt x="13106400" y="7324725"/>
                </a:lnTo>
                <a:lnTo>
                  <a:pt x="0" y="7324725"/>
                </a:lnTo>
                <a:lnTo>
                  <a:pt x="0" y="0"/>
                </a:lnTo>
                <a:close/>
              </a:path>
            </a:pathLst>
          </a:custGeom>
          <a:blipFill>
            <a:blip r:embed="rId2"/>
            <a:stretch>
              <a:fillRect l="-10413" t="-13654" r="-17711" b="-15343"/>
            </a:stretch>
          </a:blipFill>
        </p:spPr>
      </p:sp>
      <p:sp>
        <p:nvSpPr>
          <p:cNvPr id="3" name="TextBox 3"/>
          <p:cNvSpPr txBox="1"/>
          <p:nvPr/>
        </p:nvSpPr>
        <p:spPr>
          <a:xfrm>
            <a:off x="555993" y="91364"/>
            <a:ext cx="5962698" cy="1165184"/>
          </a:xfrm>
          <a:prstGeom prst="rect">
            <a:avLst/>
          </a:prstGeom>
        </p:spPr>
        <p:txBody>
          <a:bodyPr lIns="0" tIns="0" rIns="0" bIns="0" rtlCol="0" anchor="t">
            <a:spAutoFit/>
          </a:bodyPr>
          <a:lstStyle/>
          <a:p>
            <a:pPr algn="l">
              <a:lnSpc>
                <a:spcPts val="8308"/>
              </a:lnSpc>
            </a:pPr>
            <a:r>
              <a:rPr lang="en-US" sz="6999" spc="342">
                <a:solidFill>
                  <a:srgbClr val="290606"/>
                </a:solidFill>
                <a:latin typeface="Cheddar"/>
                <a:ea typeface="Cheddar"/>
                <a:cs typeface="Cheddar"/>
                <a:sym typeface="Cheddar"/>
              </a:rPr>
              <a:t>USER INTERFACES</a:t>
            </a:r>
          </a:p>
        </p:txBody>
      </p:sp>
      <p:sp>
        <p:nvSpPr>
          <p:cNvPr id="4" name="TextBox 4"/>
          <p:cNvSpPr txBox="1"/>
          <p:nvPr/>
        </p:nvSpPr>
        <p:spPr>
          <a:xfrm>
            <a:off x="3178854" y="1066333"/>
            <a:ext cx="134407" cy="874062"/>
          </a:xfrm>
          <a:prstGeom prst="rect">
            <a:avLst/>
          </a:prstGeom>
        </p:spPr>
        <p:txBody>
          <a:bodyPr lIns="0" tIns="0" rIns="0" bIns="0" rtlCol="0" anchor="t">
            <a:spAutoFit/>
          </a:bodyPr>
          <a:lstStyle/>
          <a:p>
            <a:pPr algn="l">
              <a:lnSpc>
                <a:spcPts val="7113"/>
              </a:lnSpc>
            </a:pPr>
            <a:r>
              <a:rPr lang="en-US" sz="4399" b="1">
                <a:solidFill>
                  <a:srgbClr val="000000"/>
                </a:solidFill>
                <a:latin typeface="Canva Sans Bold"/>
                <a:ea typeface="Canva Sans Bold"/>
                <a:cs typeface="Canva Sans Bold"/>
                <a:sym typeface="Canva Sans Bold"/>
              </a:rPr>
              <a:t> </a:t>
            </a:r>
          </a:p>
        </p:txBody>
      </p:sp>
      <p:sp>
        <p:nvSpPr>
          <p:cNvPr id="5" name="TextBox 5"/>
          <p:cNvSpPr txBox="1"/>
          <p:nvPr/>
        </p:nvSpPr>
        <p:spPr>
          <a:xfrm>
            <a:off x="2718911" y="1161583"/>
            <a:ext cx="6133414" cy="778812"/>
          </a:xfrm>
          <a:prstGeom prst="rect">
            <a:avLst/>
          </a:prstGeom>
        </p:spPr>
        <p:txBody>
          <a:bodyPr lIns="0" tIns="0" rIns="0" bIns="0" rtlCol="0" anchor="t">
            <a:spAutoFit/>
          </a:bodyPr>
          <a:lstStyle/>
          <a:p>
            <a:pPr algn="l">
              <a:lnSpc>
                <a:spcPts val="6159"/>
              </a:lnSpc>
            </a:pPr>
            <a:r>
              <a:rPr lang="en-US" sz="4399" b="1">
                <a:solidFill>
                  <a:srgbClr val="000000"/>
                </a:solidFill>
                <a:latin typeface="Canva Sans Bold"/>
                <a:ea typeface="Canva Sans Bold"/>
                <a:cs typeface="Canva Sans Bold"/>
                <a:sym typeface="Canva Sans Bold"/>
              </a:rPr>
              <a:t>1.Uploadinginterface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2193836" y="1692754"/>
            <a:ext cx="13639800" cy="7458075"/>
          </a:xfrm>
          <a:custGeom>
            <a:avLst/>
            <a:gdLst/>
            <a:ahLst/>
            <a:cxnLst/>
            <a:rect l="l" t="t" r="r" b="b"/>
            <a:pathLst>
              <a:path w="13639800" h="7458075">
                <a:moveTo>
                  <a:pt x="0" y="0"/>
                </a:moveTo>
                <a:lnTo>
                  <a:pt x="13639800" y="0"/>
                </a:lnTo>
                <a:lnTo>
                  <a:pt x="13639800" y="7458075"/>
                </a:lnTo>
                <a:lnTo>
                  <a:pt x="0" y="7458075"/>
                </a:lnTo>
                <a:lnTo>
                  <a:pt x="0" y="0"/>
                </a:lnTo>
                <a:close/>
              </a:path>
            </a:pathLst>
          </a:custGeom>
          <a:blipFill>
            <a:blip r:embed="rId2"/>
            <a:stretch>
              <a:fillRect l="-10474" t="-15041" r="-18924" b="-18163"/>
            </a:stretch>
          </a:blipFill>
        </p:spPr>
      </p:sp>
      <p:sp>
        <p:nvSpPr>
          <p:cNvPr id="3" name="TextBox 3"/>
          <p:cNvSpPr txBox="1"/>
          <p:nvPr/>
        </p:nvSpPr>
        <p:spPr>
          <a:xfrm>
            <a:off x="1485005" y="579501"/>
            <a:ext cx="7909408" cy="785117"/>
          </a:xfrm>
          <a:prstGeom prst="rect">
            <a:avLst/>
          </a:prstGeom>
        </p:spPr>
        <p:txBody>
          <a:bodyPr lIns="0" tIns="0" rIns="0" bIns="0" rtlCol="0" anchor="t">
            <a:spAutoFit/>
          </a:bodyPr>
          <a:lstStyle/>
          <a:p>
            <a:pPr algn="l">
              <a:lnSpc>
                <a:spcPts val="6299"/>
              </a:lnSpc>
            </a:pPr>
            <a:r>
              <a:rPr lang="en-US" sz="4500" b="1">
                <a:solidFill>
                  <a:srgbClr val="000000"/>
                </a:solidFill>
                <a:latin typeface="Canva Sans Bold"/>
                <a:ea typeface="Canva Sans Bold"/>
                <a:cs typeface="Canva Sans Bold"/>
                <a:sym typeface="Canva Sans Bold"/>
              </a:rPr>
              <a:t>2. Form Templates interface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2274780" y="1566186"/>
            <a:ext cx="13735050" cy="7696200"/>
          </a:xfrm>
          <a:custGeom>
            <a:avLst/>
            <a:gdLst/>
            <a:ahLst/>
            <a:cxnLst/>
            <a:rect l="l" t="t" r="r" b="b"/>
            <a:pathLst>
              <a:path w="13735050" h="7696200">
                <a:moveTo>
                  <a:pt x="0" y="0"/>
                </a:moveTo>
                <a:lnTo>
                  <a:pt x="13735050" y="0"/>
                </a:lnTo>
                <a:lnTo>
                  <a:pt x="13735050" y="7696200"/>
                </a:lnTo>
                <a:lnTo>
                  <a:pt x="0" y="7696200"/>
                </a:lnTo>
                <a:lnTo>
                  <a:pt x="0" y="0"/>
                </a:lnTo>
                <a:close/>
              </a:path>
            </a:pathLst>
          </a:custGeom>
          <a:blipFill>
            <a:blip r:embed="rId2"/>
            <a:stretch>
              <a:fillRect l="-7669" t="-12506" r="-14036" b="-9647"/>
            </a:stretch>
          </a:blipFill>
        </p:spPr>
      </p:sp>
      <p:sp>
        <p:nvSpPr>
          <p:cNvPr id="3" name="Freeform 3"/>
          <p:cNvSpPr/>
          <p:nvPr/>
        </p:nvSpPr>
        <p:spPr>
          <a:xfrm>
            <a:off x="4474397" y="6483001"/>
            <a:ext cx="1235173" cy="281321"/>
          </a:xfrm>
          <a:custGeom>
            <a:avLst/>
            <a:gdLst/>
            <a:ahLst/>
            <a:cxnLst/>
            <a:rect l="l" t="t" r="r" b="b"/>
            <a:pathLst>
              <a:path w="1235173" h="281321">
                <a:moveTo>
                  <a:pt x="0" y="0"/>
                </a:moveTo>
                <a:lnTo>
                  <a:pt x="1235174" y="0"/>
                </a:lnTo>
                <a:lnTo>
                  <a:pt x="1235174" y="281321"/>
                </a:lnTo>
                <a:lnTo>
                  <a:pt x="0" y="281321"/>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TextBox 4"/>
          <p:cNvSpPr txBox="1"/>
          <p:nvPr/>
        </p:nvSpPr>
        <p:spPr>
          <a:xfrm>
            <a:off x="826113" y="579501"/>
            <a:ext cx="6873354" cy="785117"/>
          </a:xfrm>
          <a:prstGeom prst="rect">
            <a:avLst/>
          </a:prstGeom>
        </p:spPr>
        <p:txBody>
          <a:bodyPr lIns="0" tIns="0" rIns="0" bIns="0" rtlCol="0" anchor="t">
            <a:spAutoFit/>
          </a:bodyPr>
          <a:lstStyle/>
          <a:p>
            <a:pPr algn="l">
              <a:lnSpc>
                <a:spcPts val="6299"/>
              </a:lnSpc>
            </a:pPr>
            <a:r>
              <a:rPr lang="en-US" sz="4500" b="1">
                <a:solidFill>
                  <a:srgbClr val="000000"/>
                </a:solidFill>
                <a:latin typeface="Canva Sans Bold"/>
                <a:ea typeface="Canva Sans Bold"/>
                <a:cs typeface="Canva Sans Bold"/>
                <a:sym typeface="Canva Sans Bold"/>
              </a:rPr>
              <a:t>3. Review/edit Interface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1028700" y="2978153"/>
            <a:ext cx="8172841" cy="803786"/>
          </a:xfrm>
          <a:custGeom>
            <a:avLst/>
            <a:gdLst/>
            <a:ahLst/>
            <a:cxnLst/>
            <a:rect l="l" t="t" r="r" b="b"/>
            <a:pathLst>
              <a:path w="8172841" h="803786">
                <a:moveTo>
                  <a:pt x="0" y="0"/>
                </a:moveTo>
                <a:lnTo>
                  <a:pt x="8172841" y="0"/>
                </a:lnTo>
                <a:lnTo>
                  <a:pt x="8172841" y="803786"/>
                </a:lnTo>
                <a:lnTo>
                  <a:pt x="0" y="80378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9582655" y="2954074"/>
            <a:ext cx="7968758" cy="803786"/>
          </a:xfrm>
          <a:custGeom>
            <a:avLst/>
            <a:gdLst/>
            <a:ahLst/>
            <a:cxnLst/>
            <a:rect l="l" t="t" r="r" b="b"/>
            <a:pathLst>
              <a:path w="7968758" h="803786">
                <a:moveTo>
                  <a:pt x="0" y="0"/>
                </a:moveTo>
                <a:lnTo>
                  <a:pt x="7968758" y="0"/>
                </a:lnTo>
                <a:lnTo>
                  <a:pt x="7968758" y="803786"/>
                </a:lnTo>
                <a:lnTo>
                  <a:pt x="0" y="80378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908742" y="4346819"/>
            <a:ext cx="16706174" cy="6003684"/>
          </a:xfrm>
          <a:custGeom>
            <a:avLst/>
            <a:gdLst/>
            <a:ahLst/>
            <a:cxnLst/>
            <a:rect l="l" t="t" r="r" b="b"/>
            <a:pathLst>
              <a:path w="16706174" h="6003684">
                <a:moveTo>
                  <a:pt x="0" y="0"/>
                </a:moveTo>
                <a:lnTo>
                  <a:pt x="16706174" y="0"/>
                </a:lnTo>
                <a:lnTo>
                  <a:pt x="16706174" y="6003684"/>
                </a:lnTo>
                <a:lnTo>
                  <a:pt x="0" y="6003684"/>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5" name="TextBox 5"/>
          <p:cNvSpPr txBox="1"/>
          <p:nvPr/>
        </p:nvSpPr>
        <p:spPr>
          <a:xfrm>
            <a:off x="4363555" y="1035082"/>
            <a:ext cx="9751943" cy="1917659"/>
          </a:xfrm>
          <a:prstGeom prst="rect">
            <a:avLst/>
          </a:prstGeom>
        </p:spPr>
        <p:txBody>
          <a:bodyPr lIns="0" tIns="0" rIns="0" bIns="0" rtlCol="0" anchor="t">
            <a:spAutoFit/>
          </a:bodyPr>
          <a:lstStyle/>
          <a:p>
            <a:pPr algn="ctr">
              <a:lnSpc>
                <a:spcPts val="6971"/>
              </a:lnSpc>
            </a:pPr>
            <a:r>
              <a:rPr lang="en-US" sz="6999" spc="342">
                <a:solidFill>
                  <a:srgbClr val="290606"/>
                </a:solidFill>
                <a:latin typeface="Cheddar"/>
                <a:ea typeface="Cheddar"/>
                <a:cs typeface="Cheddar"/>
                <a:sym typeface="Cheddar"/>
              </a:rPr>
              <a:t>FUTURE SCOPE AND FURTHER ENHANCEMENTS</a:t>
            </a:r>
          </a:p>
        </p:txBody>
      </p:sp>
      <p:sp>
        <p:nvSpPr>
          <p:cNvPr id="6" name="TextBox 6"/>
          <p:cNvSpPr txBox="1"/>
          <p:nvPr/>
        </p:nvSpPr>
        <p:spPr>
          <a:xfrm>
            <a:off x="5297138" y="2796797"/>
            <a:ext cx="98317" cy="853440"/>
          </a:xfrm>
          <a:prstGeom prst="rect">
            <a:avLst/>
          </a:prstGeom>
        </p:spPr>
        <p:txBody>
          <a:bodyPr lIns="0" tIns="0" rIns="0" bIns="0" rtlCol="0" anchor="t">
            <a:spAutoFit/>
          </a:bodyPr>
          <a:lstStyle/>
          <a:p>
            <a:pPr algn="l">
              <a:lnSpc>
                <a:spcPts val="7500"/>
              </a:lnSpc>
            </a:pPr>
            <a:r>
              <a:rPr lang="en-US" sz="3000" b="1">
                <a:solidFill>
                  <a:srgbClr val="FFFFFF"/>
                </a:solidFill>
                <a:latin typeface="Telegraf Bold"/>
                <a:ea typeface="Telegraf Bold"/>
                <a:cs typeface="Telegraf Bold"/>
                <a:sym typeface="Telegraf Bold"/>
              </a:rPr>
              <a:t> </a:t>
            </a:r>
          </a:p>
        </p:txBody>
      </p:sp>
      <p:sp>
        <p:nvSpPr>
          <p:cNvPr id="7" name="TextBox 7"/>
          <p:cNvSpPr txBox="1"/>
          <p:nvPr/>
        </p:nvSpPr>
        <p:spPr>
          <a:xfrm>
            <a:off x="1306506" y="4543282"/>
            <a:ext cx="7653185" cy="539115"/>
          </a:xfrm>
          <a:prstGeom prst="rect">
            <a:avLst/>
          </a:prstGeom>
        </p:spPr>
        <p:txBody>
          <a:bodyPr lIns="0" tIns="0" rIns="0" bIns="0" rtlCol="0" anchor="t">
            <a:spAutoFit/>
          </a:bodyPr>
          <a:lstStyle/>
          <a:p>
            <a:pPr algn="l">
              <a:lnSpc>
                <a:spcPts val="4200"/>
              </a:lnSpc>
            </a:pPr>
            <a:r>
              <a:rPr lang="en-US" sz="3000" b="1">
                <a:solidFill>
                  <a:srgbClr val="FFFFFF"/>
                </a:solidFill>
                <a:latin typeface="Telegraf Bold"/>
                <a:ea typeface="Telegraf Bold"/>
                <a:cs typeface="Telegraf Bold"/>
                <a:sym typeface="Telegraf Bold"/>
              </a:rPr>
              <a:t>Improved Multi-Language OCR Models </a:t>
            </a:r>
          </a:p>
        </p:txBody>
      </p:sp>
      <p:sp>
        <p:nvSpPr>
          <p:cNvPr id="8" name="TextBox 8"/>
          <p:cNvSpPr txBox="1"/>
          <p:nvPr/>
        </p:nvSpPr>
        <p:spPr>
          <a:xfrm>
            <a:off x="1069181" y="3111122"/>
            <a:ext cx="8154019" cy="539115"/>
          </a:xfrm>
          <a:prstGeom prst="rect">
            <a:avLst/>
          </a:prstGeom>
        </p:spPr>
        <p:txBody>
          <a:bodyPr lIns="0" tIns="0" rIns="0" bIns="0" rtlCol="0" anchor="t">
            <a:spAutoFit/>
          </a:bodyPr>
          <a:lstStyle/>
          <a:p>
            <a:pPr algn="l">
              <a:lnSpc>
                <a:spcPts val="4200"/>
              </a:lnSpc>
            </a:pPr>
            <a:r>
              <a:rPr lang="en-US" sz="3000" b="1">
                <a:solidFill>
                  <a:srgbClr val="FFFFFF"/>
                </a:solidFill>
                <a:latin typeface="Telegraf Bold"/>
                <a:ea typeface="Telegraf Bold"/>
                <a:cs typeface="Telegraf Bold"/>
                <a:sym typeface="Telegraf Bold"/>
              </a:rPr>
              <a:t>Support for AdditionalGovernmentForms</a:t>
            </a:r>
          </a:p>
        </p:txBody>
      </p:sp>
      <p:sp>
        <p:nvSpPr>
          <p:cNvPr id="9" name="TextBox 9"/>
          <p:cNvSpPr txBox="1"/>
          <p:nvPr/>
        </p:nvSpPr>
        <p:spPr>
          <a:xfrm>
            <a:off x="10205056" y="3087043"/>
            <a:ext cx="6859248" cy="539115"/>
          </a:xfrm>
          <a:prstGeom prst="rect">
            <a:avLst/>
          </a:prstGeom>
        </p:spPr>
        <p:txBody>
          <a:bodyPr lIns="0" tIns="0" rIns="0" bIns="0" rtlCol="0" anchor="t">
            <a:spAutoFit/>
          </a:bodyPr>
          <a:lstStyle/>
          <a:p>
            <a:pPr algn="l">
              <a:lnSpc>
                <a:spcPts val="4200"/>
              </a:lnSpc>
            </a:pPr>
            <a:r>
              <a:rPr lang="en-US" sz="3000" b="1">
                <a:solidFill>
                  <a:srgbClr val="FFFFFF"/>
                </a:solidFill>
                <a:latin typeface="Telegraf Bold"/>
                <a:ea typeface="Telegraf Bold"/>
                <a:cs typeface="Telegraf Bold"/>
                <a:sym typeface="Telegraf Bold"/>
              </a:rPr>
              <a:t>IntegrationwithGovernment APIs </a:t>
            </a:r>
          </a:p>
        </p:txBody>
      </p:sp>
      <p:sp>
        <p:nvSpPr>
          <p:cNvPr id="10" name="TextBox 10"/>
          <p:cNvSpPr txBox="1"/>
          <p:nvPr/>
        </p:nvSpPr>
        <p:spPr>
          <a:xfrm>
            <a:off x="9683715" y="4543282"/>
            <a:ext cx="7922838" cy="539115"/>
          </a:xfrm>
          <a:prstGeom prst="rect">
            <a:avLst/>
          </a:prstGeom>
        </p:spPr>
        <p:txBody>
          <a:bodyPr lIns="0" tIns="0" rIns="0" bIns="0" rtlCol="0" anchor="t">
            <a:spAutoFit/>
          </a:bodyPr>
          <a:lstStyle/>
          <a:p>
            <a:pPr algn="l">
              <a:lnSpc>
                <a:spcPts val="4200"/>
              </a:lnSpc>
            </a:pPr>
            <a:r>
              <a:rPr lang="en-US" sz="3000" b="1">
                <a:solidFill>
                  <a:srgbClr val="FFFFFF"/>
                </a:solidFill>
                <a:latin typeface="Telegraf Bold"/>
                <a:ea typeface="Telegraf Bold"/>
                <a:cs typeface="Telegraf Bold"/>
                <a:sym typeface="Telegraf Bold"/>
              </a:rPr>
              <a:t> AI-Based Error Detection &amp; Suggestions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673265" y="2820010"/>
            <a:ext cx="4476588" cy="4680671"/>
          </a:xfrm>
          <a:custGeom>
            <a:avLst/>
            <a:gdLst/>
            <a:ahLst/>
            <a:cxnLst/>
            <a:rect l="l" t="t" r="r" b="b"/>
            <a:pathLst>
              <a:path w="4476588" h="4680671">
                <a:moveTo>
                  <a:pt x="0" y="0"/>
                </a:moveTo>
                <a:lnTo>
                  <a:pt x="4476588" y="0"/>
                </a:lnTo>
                <a:lnTo>
                  <a:pt x="4476588" y="4680670"/>
                </a:lnTo>
                <a:lnTo>
                  <a:pt x="0" y="46806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TextBox 3"/>
          <p:cNvSpPr txBox="1"/>
          <p:nvPr/>
        </p:nvSpPr>
        <p:spPr>
          <a:xfrm>
            <a:off x="1028700" y="768382"/>
            <a:ext cx="4341543" cy="1298534"/>
          </a:xfrm>
          <a:prstGeom prst="rect">
            <a:avLst/>
          </a:prstGeom>
        </p:spPr>
        <p:txBody>
          <a:bodyPr lIns="0" tIns="0" rIns="0" bIns="0" rtlCol="0" anchor="t">
            <a:spAutoFit/>
          </a:bodyPr>
          <a:lstStyle/>
          <a:p>
            <a:pPr algn="l">
              <a:lnSpc>
                <a:spcPts val="9799"/>
              </a:lnSpc>
            </a:pPr>
            <a:r>
              <a:rPr lang="en-US" sz="6999" spc="342">
                <a:solidFill>
                  <a:srgbClr val="290606"/>
                </a:solidFill>
                <a:latin typeface="Cheddar"/>
                <a:ea typeface="Cheddar"/>
                <a:cs typeface="Cheddar"/>
                <a:sym typeface="Cheddar"/>
              </a:rPr>
              <a:t>CONCLUSION </a:t>
            </a:r>
          </a:p>
        </p:txBody>
      </p:sp>
      <p:sp>
        <p:nvSpPr>
          <p:cNvPr id="4" name="TextBox 4"/>
          <p:cNvSpPr txBox="1"/>
          <p:nvPr/>
        </p:nvSpPr>
        <p:spPr>
          <a:xfrm>
            <a:off x="6501574" y="1935023"/>
            <a:ext cx="10639130" cy="5000625"/>
          </a:xfrm>
          <a:prstGeom prst="rect">
            <a:avLst/>
          </a:prstGeom>
        </p:spPr>
        <p:txBody>
          <a:bodyPr lIns="0" tIns="0" rIns="0" bIns="0" rtlCol="0" anchor="t">
            <a:spAutoFit/>
          </a:bodyPr>
          <a:lstStyle/>
          <a:p>
            <a:pPr algn="l">
              <a:lnSpc>
                <a:spcPts val="3935"/>
              </a:lnSpc>
            </a:pPr>
            <a:r>
              <a:rPr lang="en-US" sz="3279" spc="160">
                <a:solidFill>
                  <a:srgbClr val="290606"/>
                </a:solidFill>
                <a:latin typeface="Telegraf"/>
                <a:ea typeface="Telegraf"/>
                <a:cs typeface="Telegraf"/>
                <a:sym typeface="Telegraf"/>
              </a:rPr>
              <a:t>This AI-Powered Form Filling Assistant project successfully demonstrates how artificial intelligence, OCR technologies, and intelligent field-mapping techniques can significantly improve the efficiency of government service workflows. By automating the extraction and filling of personal details from documents such as Aadhaar, PAN, and voter IDs, the system reduces manual effort, minimizes errors, and speeds up application processing.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Freeform 2"/>
          <p:cNvSpPr/>
          <p:nvPr/>
        </p:nvSpPr>
        <p:spPr>
          <a:xfrm>
            <a:off x="292627" y="0"/>
            <a:ext cx="3419475" cy="4838700"/>
          </a:xfrm>
          <a:custGeom>
            <a:avLst/>
            <a:gdLst/>
            <a:ahLst/>
            <a:cxnLst/>
            <a:rect l="l" t="t" r="r" b="b"/>
            <a:pathLst>
              <a:path w="3419475" h="4838700">
                <a:moveTo>
                  <a:pt x="0" y="0"/>
                </a:moveTo>
                <a:lnTo>
                  <a:pt x="3419475" y="0"/>
                </a:lnTo>
                <a:lnTo>
                  <a:pt x="3419475" y="4838700"/>
                </a:lnTo>
                <a:lnTo>
                  <a:pt x="0" y="4838700"/>
                </a:lnTo>
                <a:lnTo>
                  <a:pt x="0" y="0"/>
                </a:lnTo>
                <a:close/>
              </a:path>
            </a:pathLst>
          </a:custGeom>
          <a:blipFill>
            <a:blip r:embed="rId2"/>
            <a:stretch>
              <a:fillRect l="-805" r="-866"/>
            </a:stretch>
          </a:blipFill>
        </p:spPr>
      </p:sp>
      <p:sp>
        <p:nvSpPr>
          <p:cNvPr id="3" name="TextBox 3"/>
          <p:cNvSpPr txBox="1"/>
          <p:nvPr/>
        </p:nvSpPr>
        <p:spPr>
          <a:xfrm>
            <a:off x="5217119" y="1368457"/>
            <a:ext cx="6816842" cy="698459"/>
          </a:xfrm>
          <a:prstGeom prst="rect">
            <a:avLst/>
          </a:prstGeom>
        </p:spPr>
        <p:txBody>
          <a:bodyPr lIns="0" tIns="0" rIns="0" bIns="0" rtlCol="0" anchor="t">
            <a:spAutoFit/>
          </a:bodyPr>
          <a:lstStyle/>
          <a:p>
            <a:pPr algn="l">
              <a:lnSpc>
                <a:spcPts val="3499"/>
              </a:lnSpc>
            </a:pPr>
            <a:r>
              <a:rPr lang="en-US" sz="6999" spc="342">
                <a:solidFill>
                  <a:srgbClr val="000000"/>
                </a:solidFill>
                <a:latin typeface="Cheddar"/>
                <a:ea typeface="Cheddar"/>
                <a:cs typeface="Cheddar"/>
                <a:sym typeface="Cheddar"/>
              </a:rPr>
              <a:t>ACKNOWLEDGEMENT</a:t>
            </a:r>
          </a:p>
        </p:txBody>
      </p:sp>
      <p:sp>
        <p:nvSpPr>
          <p:cNvPr id="4" name="TextBox 4"/>
          <p:cNvSpPr txBox="1"/>
          <p:nvPr/>
        </p:nvSpPr>
        <p:spPr>
          <a:xfrm>
            <a:off x="5292309" y="2148640"/>
            <a:ext cx="78219" cy="760028"/>
          </a:xfrm>
          <a:prstGeom prst="rect">
            <a:avLst/>
          </a:prstGeom>
        </p:spPr>
        <p:txBody>
          <a:bodyPr lIns="0" tIns="0" rIns="0" bIns="0" rtlCol="0" anchor="t">
            <a:spAutoFit/>
          </a:bodyPr>
          <a:lstStyle/>
          <a:p>
            <a:pPr algn="l">
              <a:lnSpc>
                <a:spcPts val="6709"/>
              </a:lnSpc>
            </a:pPr>
            <a:r>
              <a:rPr lang="en-US" sz="2683">
                <a:solidFill>
                  <a:srgbClr val="290606"/>
                </a:solidFill>
                <a:latin typeface="Telegraf"/>
                <a:ea typeface="Telegraf"/>
                <a:cs typeface="Telegraf"/>
                <a:sym typeface="Telegraf"/>
              </a:rPr>
              <a:t> </a:t>
            </a:r>
          </a:p>
        </p:txBody>
      </p:sp>
      <p:sp>
        <p:nvSpPr>
          <p:cNvPr id="5" name="TextBox 5"/>
          <p:cNvSpPr txBox="1"/>
          <p:nvPr/>
        </p:nvSpPr>
        <p:spPr>
          <a:xfrm>
            <a:off x="4283254" y="2324100"/>
            <a:ext cx="12976046" cy="7321808"/>
          </a:xfrm>
          <a:prstGeom prst="rect">
            <a:avLst/>
          </a:prstGeom>
        </p:spPr>
        <p:txBody>
          <a:bodyPr lIns="0" tIns="0" rIns="0" bIns="0" rtlCol="0" anchor="t">
            <a:spAutoFit/>
          </a:bodyPr>
          <a:lstStyle/>
          <a:p>
            <a:pPr algn="l">
              <a:lnSpc>
                <a:spcPts val="4106"/>
              </a:lnSpc>
              <a:spcBef>
                <a:spcPct val="0"/>
              </a:spcBef>
            </a:pPr>
            <a:r>
              <a:rPr lang="en-US" sz="2933">
                <a:solidFill>
                  <a:srgbClr val="000000"/>
                </a:solidFill>
                <a:latin typeface="Telegraf"/>
                <a:ea typeface="Telegraf"/>
                <a:cs typeface="Telegraf"/>
                <a:sym typeface="Telegraf"/>
              </a:rPr>
              <a:t>We sincerely thank Intel Corporation for providing us the opportunity to participate in the Intel® Unnati Industrial Training Program 2025, which offered valuable exposure to real-world industry problems and emerging technologies.</a:t>
            </a:r>
          </a:p>
          <a:p>
            <a:pPr algn="l">
              <a:lnSpc>
                <a:spcPts val="4106"/>
              </a:lnSpc>
              <a:spcBef>
                <a:spcPct val="0"/>
              </a:spcBef>
            </a:pPr>
            <a:r>
              <a:rPr lang="en-US" sz="2933">
                <a:solidFill>
                  <a:srgbClr val="000000"/>
                </a:solidFill>
                <a:latin typeface="Telegraf"/>
                <a:ea typeface="Telegraf"/>
                <a:cs typeface="Telegraf"/>
                <a:sym typeface="Telegraf"/>
              </a:rPr>
              <a:t> We are grateful to the Management and Faculty of MCKV Institute of Engineering for their continuous support and facilitation throughout the program.</a:t>
            </a:r>
          </a:p>
          <a:p>
            <a:pPr algn="l">
              <a:lnSpc>
                <a:spcPts val="4106"/>
              </a:lnSpc>
              <a:spcBef>
                <a:spcPct val="0"/>
              </a:spcBef>
            </a:pPr>
            <a:r>
              <a:rPr lang="en-US" sz="2933">
                <a:solidFill>
                  <a:srgbClr val="000000"/>
                </a:solidFill>
                <a:latin typeface="Telegraf"/>
                <a:ea typeface="Telegraf"/>
                <a:cs typeface="Telegraf"/>
                <a:sym typeface="Telegraf"/>
              </a:rPr>
              <a:t> We extend our special thanks to Dr. Deep Suman Dev, Assistant Professor, CSE, for his coordination, guidance, and supervision during the training period.</a:t>
            </a:r>
          </a:p>
          <a:p>
            <a:pPr algn="l">
              <a:lnSpc>
                <a:spcPts val="4106"/>
              </a:lnSpc>
              <a:spcBef>
                <a:spcPct val="0"/>
              </a:spcBef>
            </a:pPr>
            <a:r>
              <a:rPr lang="en-US" sz="2933">
                <a:solidFill>
                  <a:srgbClr val="000000"/>
                </a:solidFill>
                <a:latin typeface="Telegraf"/>
                <a:ea typeface="Telegraf"/>
                <a:cs typeface="Telegraf"/>
                <a:sym typeface="Telegraf"/>
              </a:rPr>
              <a:t> We are also deeply thankful to our project mentor, Professor Puspen Lahiri, for his valuable guidance, insights, and constant encouragement.</a:t>
            </a:r>
          </a:p>
          <a:p>
            <a:pPr algn="l">
              <a:lnSpc>
                <a:spcPts val="4106"/>
              </a:lnSpc>
              <a:spcBef>
                <a:spcPct val="0"/>
              </a:spcBef>
            </a:pPr>
            <a:r>
              <a:rPr lang="en-US" sz="2933">
                <a:solidFill>
                  <a:srgbClr val="000000"/>
                </a:solidFill>
                <a:latin typeface="Telegraf"/>
                <a:ea typeface="Telegraf"/>
                <a:cs typeface="Telegraf"/>
                <a:sym typeface="Telegraf"/>
              </a:rPr>
              <a:t> Lastly, we appreciate the support of Intel trainers, faculty members, and our team for their dedication and collaboration.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EF4F3"/>
        </a:solidFill>
        <a:effectLst/>
      </p:bgPr>
    </p:bg>
    <p:spTree>
      <p:nvGrpSpPr>
        <p:cNvPr id="1" name=""/>
        <p:cNvGrpSpPr/>
        <p:nvPr/>
      </p:nvGrpSpPr>
      <p:grpSpPr>
        <a:xfrm>
          <a:off x="0" y="0"/>
          <a:ext cx="0" cy="0"/>
          <a:chOff x="0" y="0"/>
          <a:chExt cx="0" cy="0"/>
        </a:xfrm>
      </p:grpSpPr>
      <p:sp>
        <p:nvSpPr>
          <p:cNvPr id="2" name="TextBox 2"/>
          <p:cNvSpPr txBox="1"/>
          <p:nvPr/>
        </p:nvSpPr>
        <p:spPr>
          <a:xfrm>
            <a:off x="3803486" y="4602807"/>
            <a:ext cx="11741314" cy="1399935"/>
          </a:xfrm>
          <a:prstGeom prst="rect">
            <a:avLst/>
          </a:prstGeom>
        </p:spPr>
        <p:txBody>
          <a:bodyPr wrap="square" lIns="0" tIns="0" rIns="0" bIns="0" rtlCol="0" anchor="t">
            <a:spAutoFit/>
          </a:bodyPr>
          <a:lstStyle/>
          <a:p>
            <a:pPr algn="l">
              <a:lnSpc>
                <a:spcPts val="9479"/>
              </a:lnSpc>
            </a:pPr>
            <a:r>
              <a:rPr lang="en-US" sz="18958" spc="928" dirty="0">
                <a:solidFill>
                  <a:srgbClr val="000000"/>
                </a:solidFill>
                <a:latin typeface="Cheddar"/>
                <a:ea typeface="Cheddar"/>
                <a:cs typeface="Cheddar"/>
                <a:sym typeface="Cheddar"/>
              </a:rPr>
              <a:t>Thank you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607</Words>
  <Application>Microsoft Office PowerPoint</Application>
  <PresentationFormat>Custom</PresentationFormat>
  <Paragraphs>53</Paragraphs>
  <Slides>16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Telegraf</vt:lpstr>
      <vt:lpstr>Calibri</vt:lpstr>
      <vt:lpstr>Telegraf Medium</vt:lpstr>
      <vt:lpstr>Arial</vt:lpstr>
      <vt:lpstr>Telegraf Bold</vt:lpstr>
      <vt:lpstr>Canva Sans Bold</vt:lpstr>
      <vt:lpstr>Cheddar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Form filling Assistant for indian citizens.pdf</dc:title>
  <cp:lastModifiedBy>Sandipan Rakshit</cp:lastModifiedBy>
  <cp:revision>3</cp:revision>
  <dcterms:created xsi:type="dcterms:W3CDTF">2006-08-16T00:00:00Z</dcterms:created>
  <dcterms:modified xsi:type="dcterms:W3CDTF">2025-12-25T09:28:34Z</dcterms:modified>
  <dc:identifier>DAG8akoWnys</dc:identifier>
</cp:coreProperties>
</file>